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944502-0dcf-a543-b4c2-76da9721d6a7}">
          <p14:sldIdLst>
            <p14:sldId id="256"/>
            <p14:sldId id="257"/>
          </p14:sldIdLst>
        </p14:section>
        <p14:section name="Problem" id="{8221603f-7e8a-e776-2c38-45dd0be19cab}">
          <p14:sldIdLst>
            <p14:sldId id="258"/>
          </p14:sldIdLst>
        </p14:section>
        <p14:section name="Solution" id="{359636aa-4dee-40ee-468d-8f0e193dc70a}">
          <p14:sldIdLst>
            <p14:sldId id="259"/>
            <p14:sldId id="260"/>
          </p14:sldIdLst>
        </p14:section>
        <p14:section name="How it works" id="{89ee4d2d-f961-698d-dfcd-aef78d22b26e}">
          <p14:sldIdLst>
            <p14:sldId id="261"/>
            <p14:sldId id="262"/>
            <p14:sldId id="263"/>
            <p14:sldId id="264"/>
          </p14:sldIdLst>
        </p14:section>
        <p14:section name="Evidence" id="{41c3631e-af68-db21-da4c-c459621a44dc}">
          <p14:sldIdLst>
            <p14:sldId id="265"/>
            <p14:sldId id="266"/>
            <p14:sldId id="267"/>
          </p14:sldIdLst>
        </p14:section>
        <p14:section name="Product" id="{33b120f5-1613-a353-f81d-586dda12904a}">
          <p14:sldIdLst>
            <p14:sldId id="268"/>
            <p14:sldId id="269"/>
          </p14:sldIdLst>
        </p14:section>
        <p14:section name="Trust and impact" id="{21ec2651-577d-ef30-9b40-5b510f0c8a24}">
          <p14:sldIdLst>
            <p14:sldId id="270"/>
            <p14:sldId id="271"/>
            <p14:sldId id="272"/>
          </p14:sldIdLst>
        </p14:section>
        <p14:section name="Close" id="{4ef8ceae-aaf4-701e-a6d0-e6be6b4f94ff}">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A"/>
                </a:solidFill>
                <a:latin typeface="+mn-lt"/>
              </a:defRPr>
            </a:pPr>
            <a:r>
              <a:rPr sz="1600" b="0" i="0" u="none" strike="noStrike">
                <a:solidFill>
                  <a:srgbClr val="0F172A"/>
                </a:solidFill>
                <a:latin typeface="+mn-lt"/>
              </a:rPr>
              <a:t>Night guard</a:t>
            </a:r>
          </a:p>
        </c:rich>
      </c:tx>
      <c:layout/>
      <c:overlay val="0"/>
    </c:title>
    <c:autoTitleDeleted val="0"/>
    <c:plotArea>
      <c:layout/>
      <c:barChart>
        <c:barDir val="col"/>
        <c:grouping val="clustered"/>
        <c:varyColors val="0"/>
        <c:ser>
          <c:idx val="0"/>
          <c:order val="0"/>
          <c:tx>
            <c:strRef>
              <c:f>Sheet1!$B$1</c:f>
              <c:strCache>
                <c:ptCount val="1"/>
                <c:pt idx="0">
                  <c:v>Unseen patients (Spain)</c:v>
                </c:pt>
              </c:strCache>
            </c:strRef>
          </c:tx>
          <c:spPr>
            <a:solidFill>
              <a:srgbClr val="4F46E5"/>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Sheet1!$A$2:$A$3</c:f>
              <c:multiLvlStrCache>
                <c:ptCount val="2"/>
                <c:lvl>
                  <c:pt idx="0">
                    <c:v>Lows warned ≥15 min ahead (%)</c:v>
                  </c:pt>
                  <c:pt idx="1">
                    <c:v>Median warning (min)</c:v>
                  </c:pt>
                </c:lvl>
              </c:multiLvlStrCache>
            </c:multiLvlStrRef>
          </c:cat>
          <c:val>
            <c:numRef>
              <c:f>Sheet1!$B$2:$B$3</c:f>
              <c:numCache>
                <c:formatCode>General</c:formatCode>
                <c:ptCount val="2"/>
                <c:pt idx="0">
                  <c:v>97</c:v>
                </c:pt>
                <c:pt idx="1">
                  <c:v>65</c:v>
                </c:pt>
              </c:numCache>
            </c:numRef>
          </c:val>
        </c:ser>
        <c:ser>
          <c:idx val="1"/>
          <c:order val="1"/>
          <c:tx>
            <c:strRef>
              <c:f>Sheet1!$C$1</c:f>
              <c:strCache>
                <c:ptCount val="1"/>
                <c:pt idx="0">
                  <c:v>External test (UK)</c:v>
                </c:pt>
              </c:strCache>
            </c:strRef>
          </c:tx>
          <c:spPr>
            <a:solidFill>
              <a:srgbClr val="A5B4FC"/>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Sheet1!$A$2:$A$3</c:f>
              <c:multiLvlStrCache>
                <c:ptCount val="2"/>
                <c:lvl>
                  <c:pt idx="0">
                    <c:v>Lows warned ≥15 min ahead (%)</c:v>
                  </c:pt>
                  <c:pt idx="1">
                    <c:v>Median warning (min)</c:v>
                  </c:pt>
                </c:lvl>
              </c:multiLvlStrCache>
            </c:multiLvlStrRef>
          </c:cat>
          <c:val>
            <c:numRef>
              <c:f>Sheet1!$C$2:$C$3</c:f>
              <c:numCache>
                <c:formatCode>General</c:formatCode>
                <c:ptCount val="2"/>
                <c:pt idx="0">
                  <c:v>68</c:v>
                </c:pt>
                <c:pt idx="1">
                  <c:v>63</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A"/>
                </a:solidFill>
                <a:latin typeface="+mn-lt"/>
              </a:defRPr>
            </a:pPr>
            <a:r>
              <a:rPr sz="1600" b="0" i="0" u="none" strike="noStrike">
                <a:solidFill>
                  <a:srgbClr val="0F172A"/>
                </a:solidFill>
                <a:latin typeface="+mn-lt"/>
              </a:rPr>
              <a:t>Glucose forecast error, RMSE mg/dL (lower is better)</a:t>
            </a:r>
          </a:p>
        </c:rich>
      </c:tx>
      <c:layout/>
      <c:overlay val="0"/>
    </c:title>
    <c:autoTitleDeleted val="0"/>
    <c:plotArea>
      <c:layout/>
      <c:barChart>
        <c:barDir val="col"/>
        <c:grouping val="clustered"/>
        <c:varyColors val="0"/>
        <c:ser>
          <c:idx val="0"/>
          <c:order val="0"/>
          <c:tx>
            <c:strRef>
              <c:f>Sheet1!$B$1</c:f>
              <c:strCache>
                <c:ptCount val="1"/>
                <c:pt idx="0">
                  <c:v>Assume no change</c:v>
                </c:pt>
              </c:strCache>
            </c:strRef>
          </c:tx>
          <c:spPr>
            <a:solidFill>
              <a:srgbClr val="CBD5E1"/>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2 h</c:v>
                  </c:pt>
                </c:lvl>
              </c:multiLvlStrCache>
            </c:multiLvlStrRef>
          </c:cat>
          <c:val>
            <c:numRef>
              <c:f>Sheet1!$B$2:$B$4</c:f>
              <c:numCache>
                <c:formatCode>General</c:formatCode>
                <c:ptCount val="3"/>
                <c:pt idx="0">
                  <c:v>21.2</c:v>
                </c:pt>
                <c:pt idx="1">
                  <c:v>34.8</c:v>
                </c:pt>
                <c:pt idx="2">
                  <c:v>51.7</c:v>
                </c:pt>
              </c:numCache>
            </c:numRef>
          </c:val>
        </c:ser>
        <c:ser>
          <c:idx val="1"/>
          <c:order val="1"/>
          <c:tx>
            <c:strRef>
              <c:f>Sheet1!$C$1</c:f>
              <c:strCache>
                <c:ptCount val="1"/>
                <c:pt idx="0">
                  <c:v>NightTwin</c:v>
                </c:pt>
              </c:strCache>
            </c:strRef>
          </c:tx>
          <c:spPr>
            <a:solidFill>
              <a:srgbClr val="4F46E5"/>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2 h</c:v>
                  </c:pt>
                </c:lvl>
              </c:multiLvlStrCache>
            </c:multiLvlStrRef>
          </c:cat>
          <c:val>
            <c:numRef>
              <c:f>Sheet1!$C$2:$C$4</c:f>
              <c:numCache>
                <c:formatCode>General</c:formatCode>
                <c:ptCount val="3"/>
                <c:pt idx="0">
                  <c:v>18.1</c:v>
                </c:pt>
                <c:pt idx="1">
                  <c:v>30.4</c:v>
                </c:pt>
                <c:pt idx="2">
                  <c:v>44.4</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AUROC on unseen patients (0.5 = coin toss)</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059669"/>
            </a:solidFill>
            <a:effectLst/>
          </c:spPr>
          <c:invertIfNegative val="0"/>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059669"/>
              </a:solidFill>
              <a:effectLst/>
            </c:spPr>
          </c:dPt>
          <c:dPt>
            <c:idx val="1"/>
            <c:invertIfNegative val="0"/>
            <c:bubble3D val="0"/>
            <c:spPr>
              <a:solidFill>
                <a:srgbClr val="059669"/>
              </a:solidFill>
              <a:effectLst/>
            </c:spPr>
          </c:dPt>
          <c:dPt>
            <c:idx val="2"/>
            <c:invertIfNegative val="0"/>
            <c:bubble3D val="0"/>
            <c:spPr>
              <a:solidFill>
                <a:srgbClr val="F59E0B"/>
              </a:solidFill>
              <a:effectLst/>
            </c:spPr>
          </c:dPt>
          <c:dPt>
            <c:idx val="3"/>
            <c:invertIfNegative val="0"/>
            <c:bubble3D val="0"/>
            <c:spPr>
              <a:solidFill>
                <a:srgbClr val="F59E0B"/>
              </a:solidFill>
              <a:effectLst/>
            </c:spPr>
          </c:dPt>
          <c:dPt>
            <c:idx val="4"/>
            <c:invertIfNegative val="0"/>
            <c:bubble3D val="0"/>
            <c:spPr>
              <a:solidFill>
                <a:srgbClr val="F59E0B"/>
              </a:solidFill>
              <a:effectLst/>
            </c:spPr>
          </c:dPt>
          <c:dPt>
            <c:idx val="5"/>
            <c:invertIfNegative val="0"/>
            <c:bubble3D val="0"/>
            <c:spPr>
              <a:solidFill>
                <a:srgbClr val="F59E0B"/>
              </a:solidFill>
              <a:effectLst/>
            </c:spPr>
          </c:dPt>
          <c:cat>
            <c:multiLvlStrRef>
              <c:f>Sheet1!$A$2:$A$7</c:f>
              <c:multiLvlStrCache>
                <c:ptCount val="6"/>
                <c:lvl>
                  <c:pt idx="0">
                    <c:v>Night guard: low within 60 min</c:v>
                  </c:pt>
                  <c:pt idx="1">
                    <c:v>Night guard: low within 2 h</c:v>
                  </c:pt>
                  <c:pt idx="2">
                    <c:v>Bedtime: glucose rule</c:v>
                  </c:pt>
                  <c:pt idx="3">
                    <c:v>Bedtime: ML, all signals</c:v>
                  </c:pt>
                  <c:pt idx="4">
                    <c:v>Bedtime: physiology twin</c:v>
                  </c:pt>
                  <c:pt idx="5">
                    <c:v>Bedtime: finger-prick + band</c:v>
                  </c:pt>
                </c:lvl>
              </c:multiLvlStrCache>
            </c:multiLvlStrRef>
          </c:cat>
          <c:val>
            <c:numRef>
              <c:f>Sheet1!$B$2:$B$7</c:f>
              <c:numCache>
                <c:formatCode>General</c:formatCode>
                <c:ptCount val="6"/>
                <c:pt idx="0">
                  <c:v>0.93</c:v>
                </c:pt>
                <c:pt idx="1">
                  <c:v>0.88</c:v>
                </c:pt>
                <c:pt idx="2">
                  <c:v>0.59</c:v>
                </c:pt>
                <c:pt idx="3">
                  <c:v>0.6</c:v>
                </c:pt>
                <c:pt idx="4">
                  <c:v>0.56</c:v>
                </c:pt>
                <c:pt idx="5">
                  <c:v>0.57</c:v>
                </c:pt>
              </c:numCache>
            </c:numRef>
          </c:val>
        </c:ser>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majorGridlines>
          <c:spPr>
            <a:ln w="9525" cap="flat">
              <a:solidFill>
                <a:srgbClr val="E2E8F0"/>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Week-1 trial sensor vs later night lows (29 real patients)</a:t>
            </a:r>
          </a:p>
        </c:rich>
      </c:tx>
      <c:layout/>
      <c:overlay val="0"/>
    </c:title>
    <c:autoTitleDeleted val="0"/>
    <c:plotArea>
      <c:layout/>
      <c:scatterChart>
        <c:scatterStyle val="lineMarker"/>
        <c:varyColors val="0"/>
        <c:ser>
          <c:idx val="0"/>
          <c:order val="0"/>
          <c:tx>
            <c:strRef>
              <c:f>Sheet1!$B$1</c:f>
              <c:strCache>
                <c:ptCount val="1"/>
                <c:pt idx="0">
                  <c:v>Later nights with a low (%)</c:v>
                </c:pt>
              </c:strCache>
            </c:strRef>
          </c:tx>
          <c:spPr>
            <a:solidFill>
              <a:srgbClr val="4F46E5"/>
            </a:solidFill>
            <a:ln>
              <a:noFill/>
            </a:ln>
            <a:effectLst/>
          </c:spPr>
          <c:marker>
            <c:symbol val="circle"/>
            <c:size val="9"/>
            <c:spPr>
              <a:solidFill>
                <a:srgbClr val="4F46E5"/>
              </a:solidFill>
              <a:ln w="9525" cap="flat">
                <a:solidFill>
                  <a:srgbClr val="4F46E5"/>
                </a:solidFill>
                <a:prstDash val="solid"/>
                <a:round/>
              </a:ln>
              <a:effectLst/>
            </c:spPr>
          </c:marker>
          <c:xVal>
            <c:numRef>
              <c:f>Sheet1!$A$2:$A$30</c:f>
              <c:numCache>
                <c:formatCode>General</c:formatCode>
                <c:ptCount val="29"/>
                <c:pt idx="0">
                  <c:v>1.49</c:v>
                </c:pt>
                <c:pt idx="1">
                  <c:v>23.81</c:v>
                </c:pt>
                <c:pt idx="2">
                  <c:v>3.57</c:v>
                </c:pt>
                <c:pt idx="3">
                  <c:v>11.16</c:v>
                </c:pt>
                <c:pt idx="4">
                  <c:v>5.06</c:v>
                </c:pt>
                <c:pt idx="5">
                  <c:v>7.24</c:v>
                </c:pt>
                <c:pt idx="6">
                  <c:v>0</c:v>
                </c:pt>
                <c:pt idx="7">
                  <c:v>2.58</c:v>
                </c:pt>
                <c:pt idx="8">
                  <c:v>2.48</c:v>
                </c:pt>
                <c:pt idx="9">
                  <c:v>3.87</c:v>
                </c:pt>
                <c:pt idx="10">
                  <c:v>14.83</c:v>
                </c:pt>
                <c:pt idx="11">
                  <c:v>2.93</c:v>
                </c:pt>
                <c:pt idx="12">
                  <c:v>9.92</c:v>
                </c:pt>
                <c:pt idx="13">
                  <c:v>2.48</c:v>
                </c:pt>
                <c:pt idx="14">
                  <c:v>17.21</c:v>
                </c:pt>
                <c:pt idx="15">
                  <c:v>5.3</c:v>
                </c:pt>
                <c:pt idx="16">
                  <c:v>14.09</c:v>
                </c:pt>
                <c:pt idx="17">
                  <c:v>17.01</c:v>
                </c:pt>
                <c:pt idx="18">
                  <c:v>10.47</c:v>
                </c:pt>
                <c:pt idx="19">
                  <c:v>3.12</c:v>
                </c:pt>
                <c:pt idx="20">
                  <c:v>0.2</c:v>
                </c:pt>
                <c:pt idx="21">
                  <c:v>0.2</c:v>
                </c:pt>
                <c:pt idx="22">
                  <c:v>0</c:v>
                </c:pt>
                <c:pt idx="23">
                  <c:v>0</c:v>
                </c:pt>
                <c:pt idx="24">
                  <c:v>2.18</c:v>
                </c:pt>
                <c:pt idx="25">
                  <c:v>2.33</c:v>
                </c:pt>
                <c:pt idx="26">
                  <c:v>1.61</c:v>
                </c:pt>
                <c:pt idx="27">
                  <c:v>3.78</c:v>
                </c:pt>
                <c:pt idx="28">
                  <c:v>1.31</c:v>
                </c:pt>
              </c:numCache>
            </c:numRef>
          </c:xVal>
          <c:yVal>
            <c:numRef>
              <c:f>Sheet1!$B$2:$B$30</c:f>
              <c:numCache>
                <c:formatCode>General</c:formatCode>
                <c:ptCount val="29"/>
                <c:pt idx="0">
                  <c:v>33.3</c:v>
                </c:pt>
                <c:pt idx="1">
                  <c:v>66.7</c:v>
                </c:pt>
                <c:pt idx="2">
                  <c:v>40</c:v>
                </c:pt>
                <c:pt idx="3">
                  <c:v>66.7</c:v>
                </c:pt>
                <c:pt idx="4">
                  <c:v>0</c:v>
                </c:pt>
                <c:pt idx="5">
                  <c:v>40</c:v>
                </c:pt>
                <c:pt idx="6">
                  <c:v>0</c:v>
                </c:pt>
                <c:pt idx="7">
                  <c:v>0</c:v>
                </c:pt>
                <c:pt idx="8">
                  <c:v>40</c:v>
                </c:pt>
                <c:pt idx="9">
                  <c:v>20</c:v>
                </c:pt>
                <c:pt idx="10">
                  <c:v>40</c:v>
                </c:pt>
                <c:pt idx="11">
                  <c:v>0</c:v>
                </c:pt>
                <c:pt idx="12">
                  <c:v>60</c:v>
                </c:pt>
                <c:pt idx="13">
                  <c:v>20</c:v>
                </c:pt>
                <c:pt idx="14">
                  <c:v>33.3</c:v>
                </c:pt>
                <c:pt idx="15">
                  <c:v>16.7</c:v>
                </c:pt>
                <c:pt idx="16">
                  <c:v>33.3</c:v>
                </c:pt>
                <c:pt idx="17">
                  <c:v>22.6</c:v>
                </c:pt>
                <c:pt idx="18">
                  <c:v>19.4</c:v>
                </c:pt>
                <c:pt idx="19">
                  <c:v>13.4</c:v>
                </c:pt>
                <c:pt idx="20">
                  <c:v>4.3</c:v>
                </c:pt>
                <c:pt idx="21">
                  <c:v>2.4</c:v>
                </c:pt>
                <c:pt idx="22">
                  <c:v>3</c:v>
                </c:pt>
                <c:pt idx="23">
                  <c:v>4.5</c:v>
                </c:pt>
                <c:pt idx="24">
                  <c:v>31.3</c:v>
                </c:pt>
                <c:pt idx="25">
                  <c:v>10.9</c:v>
                </c:pt>
                <c:pt idx="26">
                  <c:v>4.9</c:v>
                </c:pt>
                <c:pt idx="27">
                  <c:v>18.6</c:v>
                </c:pt>
                <c:pt idx="28">
                  <c:v>4</c:v>
                </c:pt>
              </c:numCache>
            </c:numRef>
          </c:yVal>
          <c:smooth val="0"/>
        </c:ser>
        <c:dLbls>
          <c:numFmt formatCode="General" sourceLinked="0"/>
          <c:txPr>
            <a:bodyPr/>
            <a:lstStyle/>
            <a:p>
              <a:pPr>
                <a:defRPr b="0" i="0" strike="noStrike" sz="1200" u="none">
                  <a:solidFill>
                    <a:srgbClr val="0F172A"/>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200" b="0" i="0" u="none" strike="noStrike">
                    <a:solidFill>
                      <a:srgbClr val="475569"/>
                    </a:solidFill>
                    <a:latin typeface="Arial"/>
                  </a:defRPr>
                </a:pPr>
                <a:r>
                  <a:rPr sz="1200" b="0" i="0" u="none" strike="noStrike">
                    <a:solidFill>
                      <a:srgbClr val="475569"/>
                    </a:solidFill>
                    <a:latin typeface="Arial"/>
                  </a:rPr>
                  <a:t>Week 1: % time below 70 mg/dL</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valAx>
      <c:valAx>
        <c:axId val="2094734552"/>
        <c:scaling>
          <c:orientation val="minMax"/>
        </c:scaling>
        <c:delete val="0"/>
        <c:axPos val="l"/>
        <c:majorGridlines>
          <c:spPr>
            <a:ln w="9525" cap="flat">
              <a:solidFill>
                <a:srgbClr val="E2E8F0"/>
              </a:solidFill>
              <a:prstDash val="solid"/>
              <a:round/>
            </a:ln>
          </c:spPr>
        </c:majorGridlines>
        <c:title>
          <c:tx>
            <c:rich>
              <a:bodyPr/>
              <a:lstStyle/>
              <a:p>
                <a:pPr>
                  <a:defRPr sz="1200" b="0" i="0" u="none" strike="noStrike">
                    <a:solidFill>
                      <a:srgbClr val="475569"/>
                    </a:solidFill>
                    <a:latin typeface="Arial"/>
                  </a:defRPr>
                </a:pPr>
                <a:r>
                  <a:rPr sz="1200" b="0" i="0" u="none" strike="noStrike">
                    <a:solidFill>
                      <a:srgbClr val="475569"/>
                    </a:solidFill>
                    <a:latin typeface="Arial"/>
                  </a:rPr>
                  <a:t>Later: % of nights with a low</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TwinPulse from Newton School of Technology, Rishihood University. Our project, NightTwin, is a digital twin that lives the night first: before a child with type 1 diabetes goes to sleep, her twin rehearses tonight 500 times, so the doctor can see the danger and fix it before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Lakshmi in Raichur. Her daughter Ananya has type 1 diabetes. Every night she sets an alarm to check her. In the landmark DCCT trial, 55 percent of severe lows happened during sleep, and dead-in-bed syndrome is linked to 5 to 6 percent of deaths in people with type 1 diabetes under 40. A low caught an hour early is treated with a glass of juice. A low caught late can mean a seizure.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2.29 lakh children and teens with type 1 diabetes, the most of any country. A CGM with alarms costs over a lakh a year, so most families use finger-pricks. Many state programmes give human NPH insulin, which peaks between 1 and 4 AM, exactly when the family is asleep.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NightTwin does three things. It learns each child as a personal physiology model. At 9 PM it lives tonight 500 times, so the doctor sees the risk and rehearses fixes. And for children with a CGM, it guards the real night, warning about an hour before a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fuses two streams, as the challenge asks. The static health record, in FHIR R4 format, gives regimen, HbA1c, haemoglobin, hypo history and genetic markers. The dynamic stream gives glucose, insulin, meals, steps and heart rate. We train and validate only on open real-patient data, and use synthetic Indian children only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from the health record and wearables into a unified 5-minute timeline. Three models sit on top: the physiology twin, the LightGBM night guard, and sensor priority. A FastAPI service serves the doctor dashboard and the family channel, and a trust layer covers consent, privacy and doctor-in-the-loop.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a real physiological model, the Bergman minimal model with insulin depots for both rapid and NPH insulin, carbohydrate absorption and a lingering exercise effect. It is fitted to each child's own past nights. At bedtime it runs 500 times with realistic variation, giving the probability, timing and depth of a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twin. The doctor tries a plan, for example a bedtime snack and moving NPH 90 minutes later, and the twin re-lives the night. For Ananya, the share of rehearsed nights with a low drops from 58 to 14 percent. Only after seeing this does the doctor approve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families with a CGM, the night guard runs every five minutes. On real patients it never saw, it warned about 97% of night-time lows at least 15 minutes ahead, with a median warning of 65 minutes and about one false alarm every two nights.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here are on real people with type 1 diabetes the model never saw, and confirmed on a separate UK dataset with different devices. The guard performs well. Our glucose forecasts beat the standard baseline at every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We first hoped to tell a mother at bedtime whether tonight is safe. On over a thousand real nights, bedtime-only prediction was close to chance for every method, including our physiology twin. So we changed the design: rehearsal compares plans, and warnings come from the in-night guard, which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nightly CGM we cannot guard every night. So NightTwin helps share scarce sensors fairly. On real patients, one week of sensor data ranked who would have the most night lows later: 42 percent of later nights for the top third, versus 10 percent for the bottom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built for a busy paediatric diabetes clinic. At 9 PM the Tonight Board ranks every child. One click opens the child's twin, with the rehearsed night, the reasons, the health record and the 14-day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NightTwin is designed for India: alerts in the family's language, voice calls for feature phones, models of the human insulin our programmes supply, Indian routines like late dinners and evening cricket, and FHIR records ready for ABDM.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Children's health data needs extra care. Under the DPDP Act, children's data needs verifiable parental consent, and the 2025 Rules exempt clinics providing health services, so NightTwin is deployed by the clinic. The doctor stays in charge of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measurable: about an hour of warning for CGM families, smarter use of scarce sensors for everyone else, and zero licence cost. Our rollout path starts with a clinic pilot, then validation on Indian children, then extension to adults with type 2 diabetes on insulin.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open about our limits: the models were trained on adults abroad, the demo children are synthetic, bedtime prediction is weak, and this is not yet a medical device. Each has a clear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1970, NASA rehearsed the Apollo 13 rescue on a twin of the spacecraft before trying it for real. NightTwin does the same for a child's night.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7863840" cy="1737360"/>
          </a:xfrm>
          <a:prstGeom prst="rect">
            <a:avLst/>
          </a:prstGeom>
          <a:noFill/>
          <a:ln/>
        </p:spPr>
        <p:txBody>
          <a:bodyPr wrap="square" rtlCol="0"/>
          <a:lstStyle>
            <a:lvl1pPr algn="l" indent="0" marL="0">
              <a:buNone/>
              <a:defRPr lang="en-US" sz="4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600" dirty="0"/>
          </a:p>
        </p:txBody>
      </p:sp>
      <p:sp>
        <p:nvSpPr>
          <p:cNvPr id="3" name="Text 0"/>
          <p:cNvSpPr/>
          <p:nvPr>
            <p:ph idx="101" type="body" hasCustomPrompt="1"/>
          </p:nvPr>
        </p:nvSpPr>
        <p:spPr>
          <a:xfrm>
            <a:off x="640080" y="3886200"/>
            <a:ext cx="7680960" cy="109728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pic>
        <p:nvPicPr>
          <p:cNvPr id="3" name="Image 0" descr="/Users/manangilhotra010/Happiest Health HACK/TwinPulse_NewtonSchoolOfTechnology_RishihoodUniversity/docs/brand/nighttwin_logo.png">    </p:cNvPr>
          <p:cNvPicPr>
            <a:picLocks noChangeAspect="1"/>
          </p:cNvPicPr>
          <p:nvPr/>
        </p:nvPicPr>
        <p:blipFill>
          <a:blip r:embed="rId1"/>
          <a:stretch>
            <a:fillRect/>
          </a:stretch>
        </p:blipFill>
        <p:spPr>
          <a:xfrm>
            <a:off x="548640" y="6419088"/>
            <a:ext cx="274320" cy="274320"/>
          </a:xfrm>
          <a:prstGeom prst="rect">
            <a:avLst/>
          </a:prstGeom>
        </p:spPr>
      </p:pic>
      <p:sp>
        <p:nvSpPr>
          <p:cNvPr id="4" name="Text 0"/>
          <p:cNvSpPr/>
          <p:nvPr/>
        </p:nvSpPr>
        <p:spPr>
          <a:xfrm>
            <a:off x="896112" y="6446520"/>
            <a:ext cx="7315200" cy="274320"/>
          </a:xfrm>
          <a:prstGeom prst="rect">
            <a:avLst/>
          </a:prstGeom>
          <a:noFill/>
          <a:ln/>
        </p:spPr>
        <p:txBody>
          <a:bodyPr wrap="square" rtlCol="0" anchor="ctr"/>
          <a:lstStyle/>
          <a:p>
            <a:pPr indent="0" marL="0">
              <a:buNone/>
            </a:pPr>
            <a:r>
              <a:rPr lang="en-US" sz="1000" dirty="0">
                <a:solidFill>
                  <a:schemeClr val="tx2"/>
                </a:solidFill>
              </a:rPr>
              <a:t>NightTwin by Team TwinPulse · Newton School of Technology, Rishihood University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pic>
        <p:nvPicPr>
          <p:cNvPr id="3" name="Image 0" descr="/Users/manangilhotra010/Happiest Health HACK/TwinPulse_NewtonSchoolOfTechnology_RishihoodUniversity/docs/brand/nighttwin_logo.png">    </p:cNvPr>
          <p:cNvPicPr>
            <a:picLocks noChangeAspect="1"/>
          </p:cNvPicPr>
          <p:nvPr/>
        </p:nvPicPr>
        <p:blipFill>
          <a:blip r:embed="rId1"/>
          <a:stretch>
            <a:fillRect/>
          </a:stretch>
        </p:blipFill>
        <p:spPr>
          <a:xfrm>
            <a:off x="548640" y="6419088"/>
            <a:ext cx="274320" cy="274320"/>
          </a:xfrm>
          <a:prstGeom prst="rect">
            <a:avLst/>
          </a:prstGeom>
        </p:spPr>
      </p:pic>
      <p:sp>
        <p:nvSpPr>
          <p:cNvPr id="4" name="Text 0"/>
          <p:cNvSpPr/>
          <p:nvPr/>
        </p:nvSpPr>
        <p:spPr>
          <a:xfrm>
            <a:off x="896112" y="6446520"/>
            <a:ext cx="7315200" cy="274320"/>
          </a:xfrm>
          <a:prstGeom prst="rect">
            <a:avLst/>
          </a:prstGeom>
          <a:noFill/>
          <a:ln/>
        </p:spPr>
        <p:txBody>
          <a:bodyPr wrap="square" rtlCol="0" anchor="ctr"/>
          <a:lstStyle/>
          <a:p>
            <a:pPr indent="0" marL="0">
              <a:buNone/>
            </a:pPr>
            <a:r>
              <a:rPr lang="en-US" sz="1000" dirty="0">
                <a:solidFill>
                  <a:schemeClr val="accent5"/>
                </a:solidFill>
              </a:rPr>
              <a:t>NightTwin by Team TwinPulse · Newton School of Technology, Rishihood University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title" descr="NightTwin logo">    </p:cNvPr>
          <p:cNvPicPr>
            <a:picLocks noChangeAspect="1"/>
          </p:cNvPicPr>
          <p:nvPr/>
        </p:nvPicPr>
        <p:blipFill>
          <a:blip r:embed="rId1"/>
          <a:stretch>
            <a:fillRect/>
          </a:stretch>
        </p:blipFill>
        <p:spPr>
          <a:xfrm>
            <a:off x="640080" y="502920"/>
            <a:ext cx="777240" cy="777240"/>
          </a:xfrm>
          <a:prstGeom prst="rect">
            <a:avLst/>
          </a:prstGeom>
        </p:spPr>
      </p:pic>
      <p:sp>
        <p:nvSpPr>
          <p:cNvPr id="3" name="text-1"/>
          <p:cNvSpPr txBox="1"/>
          <p:nvPr/>
        </p:nvSpPr>
        <p:spPr>
          <a:xfrm>
            <a:off x="640080" y="1417320"/>
            <a:ext cx="82296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TEAM TWINPULSE · HAPPIEST HEALTH DIGITAL TWIN CHALLENGE 2026</a:t>
            </a:r>
            <a:endParaRPr lang="en-US" sz="1400" dirty="0"/>
          </a:p>
        </p:txBody>
      </p:sp>
      <p:sp>
        <p:nvSpPr>
          <p:cNvPr id="4" name="Text 0"/>
          <p:cNvSpPr/>
          <p:nvPr>
            <p:ph idx="100" type="title" hasCustomPrompt="1"/>
          </p:nvPr>
        </p:nvSpPr>
        <p:spPr>
          <a:xfrm>
            <a:off x="640080" y="2011680"/>
            <a:ext cx="7863840" cy="1737360"/>
          </a:xfrm>
          <a:prstGeom prst="rect">
            <a:avLst/>
          </a:prstGeom>
          <a:noFill/>
          <a:ln/>
        </p:spPr>
        <p:txBody>
          <a:bodyPr wrap="square" rtlCol="0" anchor="t"/>
          <a:lstStyle/>
          <a:p>
            <a:pPr algn="l" indent="0" marL="0">
              <a:buNone/>
            </a:pPr>
            <a:r>
              <a:rPr lang="en-US" sz="4600" b="1" dirty="0">
                <a:solidFill>
                  <a:schemeClr val="bg1"/>
                </a:solidFill>
                <a:latin typeface="Cambria" pitchFamily="34" charset="0"/>
                <a:ea typeface="Cambria" pitchFamily="34" charset="-122"/>
                <a:cs typeface="Cambria" pitchFamily="34" charset="-120"/>
              </a:rPr>
              <a:t>NightTwin: the twin lives the night first</a:t>
            </a:r>
            <a:endParaRPr lang="en-US" sz="4600" dirty="0"/>
          </a:p>
        </p:txBody>
      </p:sp>
      <p:sp>
        <p:nvSpPr>
          <p:cNvPr id="5" name="Text 0"/>
          <p:cNvSpPr/>
          <p:nvPr>
            <p:ph idx="101" type="body" hasCustomPrompt="1"/>
          </p:nvPr>
        </p:nvSpPr>
        <p:spPr>
          <a:xfrm>
            <a:off x="640080" y="3886200"/>
            <a:ext cx="7680960" cy="1097280"/>
          </a:xfrm>
          <a:prstGeom prst="rect">
            <a:avLst/>
          </a:prstGeom>
          <a:noFill/>
          <a:ln/>
        </p:spPr>
        <p:txBody>
          <a:bodyPr wrap="square" rtlCol="0" anchor="t"/>
          <a:lstStyle/>
          <a:p>
            <a:pPr algn="l" indent="0" marL="0">
              <a:buNone/>
            </a:pPr>
            <a:r>
              <a:rPr lang="en-US" sz="1800" dirty="0">
                <a:solidFill>
                  <a:schemeClr val="accent5"/>
                </a:solidFill>
              </a:rPr>
              <a:t>A physiology-based digital twin that rehearses tonight to prevent night-time hypoglycaemia in Indian children with type 1 diabetes</a:t>
            </a:r>
            <a:endParaRPr lang="en-US" sz="1800" dirty="0"/>
          </a:p>
        </p:txBody>
      </p:sp>
      <p:sp>
        <p:nvSpPr>
          <p:cNvPr id="6" name="text-2"/>
          <p:cNvSpPr txBox="1"/>
          <p:nvPr/>
        </p:nvSpPr>
        <p:spPr>
          <a:xfrm>
            <a:off x="640080" y="5440680"/>
            <a:ext cx="8229600" cy="365760"/>
          </a:xfrm>
          <a:prstGeom prst="rect">
            <a:avLst/>
          </a:prstGeom>
          <a:noFill/>
          <a:ln/>
        </p:spPr>
        <p:txBody>
          <a:bodyPr wrap="square" lIns="0" tIns="0" rIns="0" bIns="0" rtlCol="0" anchor="t"/>
          <a:lstStyle/>
          <a:p>
            <a:pPr indent="0" marL="0">
              <a:buNone/>
            </a:pPr>
            <a:r>
              <a:rPr lang="en-US" sz="1600" dirty="0">
                <a:solidFill>
                  <a:schemeClr val="bg1"/>
                </a:solidFill>
              </a:rPr>
              <a:t>Team TwinPulse · Newton School of Technology, Rishihood University</a:t>
            </a:r>
            <a:endParaRPr lang="en-US" sz="1600" dirty="0"/>
          </a:p>
        </p:txBody>
      </p:sp>
      <p:sp>
        <p:nvSpPr>
          <p:cNvPr id="7" name="text-3"/>
          <p:cNvSpPr txBox="1"/>
          <p:nvPr/>
        </p:nvSpPr>
        <p:spPr>
          <a:xfrm>
            <a:off x="640080" y="5852160"/>
            <a:ext cx="8229600" cy="365760"/>
          </a:xfrm>
          <a:prstGeom prst="rect">
            <a:avLst/>
          </a:prstGeom>
          <a:noFill/>
          <a:ln/>
        </p:spPr>
        <p:txBody>
          <a:bodyPr wrap="square" lIns="0" tIns="0" rIns="0" bIns="0" rtlCol="0" anchor="t"/>
          <a:lstStyle/>
          <a:p>
            <a:pPr indent="0" marL="0">
              <a:buNone/>
            </a:pPr>
            <a:r>
              <a:rPr lang="en-US" sz="1400" dirty="0">
                <a:solidFill>
                  <a:schemeClr val="accent5"/>
                </a:solidFill>
              </a:rPr>
              <a:t>Manan Gilhotra (team leader) · Manas Saxena</a:t>
            </a:r>
            <a:endParaRPr lang="en-US" sz="1400" dirty="0"/>
          </a:p>
        </p:txBody>
      </p:sp>
      <p:sp>
        <p:nvSpPr>
          <p:cNvPr id="8" name="moon"/>
          <p:cNvSpPr/>
          <p:nvPr/>
        </p:nvSpPr>
        <p:spPr>
          <a:xfrm>
            <a:off x="9052560" y="1554480"/>
            <a:ext cx="2377440" cy="2377440"/>
          </a:xfrm>
          <a:prstGeom prst="ellipse">
            <a:avLst/>
          </a:prstGeom>
          <a:solidFill>
            <a:schemeClr val="accent2"/>
          </a:solidFill>
          <a:ln w="12700">
            <a:solidFill>
              <a:schemeClr val="accent2"/>
            </a:solidFill>
            <a:prstDash val="solid"/>
          </a:ln>
        </p:spPr>
      </p:sp>
      <p:sp>
        <p:nvSpPr>
          <p:cNvPr id="9" name="moon-shadow"/>
          <p:cNvSpPr/>
          <p:nvPr/>
        </p:nvSpPr>
        <p:spPr>
          <a:xfrm>
            <a:off x="9692640" y="1325880"/>
            <a:ext cx="2194560" cy="2194560"/>
          </a:xfrm>
          <a:prstGeom prst="ellipse">
            <a:avLst/>
          </a:prstGeom>
          <a:solidFill>
            <a:schemeClr val="tx1"/>
          </a:solidFill>
          <a:ln w="12700">
            <a:solidFill>
              <a:schemeClr val="tx1"/>
            </a:solidFill>
            <a:prstDash val="solid"/>
          </a:ln>
        </p:spPr>
      </p:sp>
      <p:sp>
        <p:nvSpPr>
          <p:cNvPr id="10" name="text-4"/>
          <p:cNvSpPr txBox="1"/>
          <p:nvPr/>
        </p:nvSpPr>
        <p:spPr>
          <a:xfrm>
            <a:off x="8778240" y="4297680"/>
            <a:ext cx="2926080" cy="1188720"/>
          </a:xfrm>
          <a:prstGeom prst="rect">
            <a:avLst/>
          </a:prstGeom>
          <a:noFill/>
          <a:ln/>
        </p:spPr>
        <p:txBody>
          <a:bodyPr wrap="square" lIns="0" tIns="0" rIns="0" bIns="0" rtlCol="0" anchor="t"/>
          <a:lstStyle/>
          <a:p>
            <a:pPr algn="r" indent="0" marL="0">
              <a:buNone/>
            </a:pPr>
            <a:r>
              <a:rPr lang="en-US" sz="1600" dirty="0">
                <a:solidFill>
                  <a:schemeClr val="accent5"/>
                </a:solidFill>
              </a:rPr>
              <a:t>21:00 → 07:00</a:t>
            </a:r>
            <a:endParaRPr lang="en-US" sz="1600" dirty="0"/>
          </a:p>
          <a:p>
            <a:pPr algn="r" indent="0" marL="0">
              <a:buNone/>
            </a:pPr>
            <a:r>
              <a:rPr lang="en-US" sz="1600" dirty="0">
                <a:solidFill>
                  <a:schemeClr val="accent5"/>
                </a:solidFill>
              </a:rPr>
              <a:t>500 nights rehearsed</a:t>
            </a:r>
            <a:endParaRPr lang="en-US" sz="1600" dirty="0"/>
          </a:p>
          <a:p>
            <a:pPr algn="r" indent="0" marL="0">
              <a:buNone/>
            </a:pPr>
            <a:r>
              <a:rPr lang="en-US" sz="1600" dirty="0">
                <a:solidFill>
                  <a:schemeClr val="accent5"/>
                </a:solidFill>
              </a:rPr>
              <a:t>before one is lived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2:47 AM in Raichur</a:t>
            </a:r>
            <a:endParaRPr lang="en-US" sz="3200" dirty="0"/>
          </a:p>
        </p:txBody>
      </p:sp>
      <p:sp>
        <p:nvSpPr>
          <p:cNvPr id="3" name="card-5"/>
          <p:cNvSpPr/>
          <p:nvPr/>
        </p:nvSpPr>
        <p:spPr>
          <a:xfrm>
            <a:off x="548640" y="1371600"/>
            <a:ext cx="6766560" cy="4480560"/>
          </a:xfrm>
          <a:prstGeom prst="roundRect">
            <a:avLst>
              <a:gd name="adj" fmla="val 2449"/>
            </a:avLst>
          </a:prstGeom>
          <a:solidFill>
            <a:srgbClr val="1E293B"/>
          </a:solidFill>
          <a:ln w="12700">
            <a:solidFill>
              <a:srgbClr val="1E293B"/>
            </a:solidFill>
            <a:prstDash val="solid"/>
          </a:ln>
        </p:spPr>
      </p:sp>
      <p:sp>
        <p:nvSpPr>
          <p:cNvPr id="4" name="text-6"/>
          <p:cNvSpPr txBox="1"/>
          <p:nvPr/>
        </p:nvSpPr>
        <p:spPr>
          <a:xfrm>
            <a:off x="914400" y="1737360"/>
            <a:ext cx="6035040" cy="2377440"/>
          </a:xfrm>
          <a:prstGeom prst="rect">
            <a:avLst/>
          </a:prstGeom>
          <a:noFill/>
          <a:ln/>
        </p:spPr>
        <p:txBody>
          <a:bodyPr wrap="square" lIns="0" tIns="0" rIns="0" bIns="0" rtlCol="0" anchor="t"/>
          <a:lstStyle/>
          <a:p>
            <a:pPr indent="0" marL="0">
              <a:buNone/>
            </a:pPr>
            <a:r>
              <a:rPr lang="en-US" sz="2600" i="1" dirty="0">
                <a:solidFill>
                  <a:schemeClr val="bg1"/>
                </a:solidFill>
                <a:latin typeface="Cambria" pitchFamily="34" charset="0"/>
                <a:ea typeface="Cambria" pitchFamily="34" charset="-122"/>
                <a:cs typeface="Cambria" pitchFamily="34" charset="-120"/>
              </a:rPr>
              <a:t>“Every night for three years I set an alarm to prick her finger. I never know which night is the dangerous one.”</a:t>
            </a:r>
            <a:endParaRPr lang="en-US" sz="2600" dirty="0"/>
          </a:p>
        </p:txBody>
      </p:sp>
      <p:sp>
        <p:nvSpPr>
          <p:cNvPr id="5" name="text-7"/>
          <p:cNvSpPr txBox="1"/>
          <p:nvPr/>
        </p:nvSpPr>
        <p:spPr>
          <a:xfrm>
            <a:off x="914400" y="5212080"/>
            <a:ext cx="5486400" cy="365760"/>
          </a:xfrm>
          <a:prstGeom prst="rect">
            <a:avLst/>
          </a:prstGeom>
          <a:noFill/>
          <a:ln/>
        </p:spPr>
        <p:txBody>
          <a:bodyPr wrap="square" lIns="0" tIns="0" rIns="0" bIns="0" rtlCol="0" anchor="t"/>
          <a:lstStyle/>
          <a:p>
            <a:pPr indent="0" marL="0">
              <a:buNone/>
            </a:pPr>
            <a:r>
              <a:rPr lang="en-US" sz="1200" dirty="0">
                <a:solidFill>
                  <a:schemeClr val="accent5"/>
                </a:solidFill>
              </a:rPr>
              <a:t>Composite story, for illustration</a:t>
            </a:r>
            <a:endParaRPr lang="en-US" sz="1200" dirty="0"/>
          </a:p>
        </p:txBody>
      </p:sp>
      <p:sp>
        <p:nvSpPr>
          <p:cNvPr id="6" name="text-8"/>
          <p:cNvSpPr txBox="1"/>
          <p:nvPr/>
        </p:nvSpPr>
        <p:spPr>
          <a:xfrm>
            <a:off x="7863840" y="1371600"/>
            <a:ext cx="384048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55%</a:t>
            </a:r>
            <a:endParaRPr lang="en-US" sz="4800" dirty="0"/>
          </a:p>
        </p:txBody>
      </p:sp>
      <p:sp>
        <p:nvSpPr>
          <p:cNvPr id="7" name="text-9"/>
          <p:cNvSpPr txBox="1"/>
          <p:nvPr/>
        </p:nvSpPr>
        <p:spPr>
          <a:xfrm>
            <a:off x="7863840" y="2240280"/>
            <a:ext cx="3840480" cy="685800"/>
          </a:xfrm>
          <a:prstGeom prst="rect">
            <a:avLst/>
          </a:prstGeom>
          <a:noFill/>
          <a:ln/>
        </p:spPr>
        <p:txBody>
          <a:bodyPr wrap="square" lIns="0" tIns="0" rIns="0" bIns="0" rtlCol="0" anchor="t"/>
          <a:lstStyle/>
          <a:p>
            <a:pPr indent="0" marL="0">
              <a:buNone/>
            </a:pPr>
            <a:r>
              <a:rPr lang="en-US" sz="1400" dirty="0">
                <a:solidFill>
                  <a:schemeClr val="accent5"/>
                </a:solidFill>
              </a:rPr>
              <a:t>of severe lows in type 1 diabetes happen during sleep (DCCT)</a:t>
            </a:r>
            <a:endParaRPr lang="en-US" sz="1400" dirty="0"/>
          </a:p>
        </p:txBody>
      </p:sp>
      <p:sp>
        <p:nvSpPr>
          <p:cNvPr id="8" name="text-10"/>
          <p:cNvSpPr txBox="1"/>
          <p:nvPr/>
        </p:nvSpPr>
        <p:spPr>
          <a:xfrm>
            <a:off x="7863840" y="3063240"/>
            <a:ext cx="384048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5–6%</a:t>
            </a:r>
            <a:endParaRPr lang="en-US" sz="4800" dirty="0"/>
          </a:p>
        </p:txBody>
      </p:sp>
      <p:sp>
        <p:nvSpPr>
          <p:cNvPr id="9" name="text-11"/>
          <p:cNvSpPr txBox="1"/>
          <p:nvPr/>
        </p:nvSpPr>
        <p:spPr>
          <a:xfrm>
            <a:off x="7863840" y="3931920"/>
            <a:ext cx="3840480" cy="685800"/>
          </a:xfrm>
          <a:prstGeom prst="rect">
            <a:avLst/>
          </a:prstGeom>
          <a:noFill/>
          <a:ln/>
        </p:spPr>
        <p:txBody>
          <a:bodyPr wrap="square" lIns="0" tIns="0" rIns="0" bIns="0" rtlCol="0" anchor="t"/>
          <a:lstStyle/>
          <a:p>
            <a:pPr indent="0" marL="0">
              <a:buNone/>
            </a:pPr>
            <a:r>
              <a:rPr lang="en-US" sz="1400" dirty="0">
                <a:solidFill>
                  <a:schemeClr val="accent5"/>
                </a:solidFill>
              </a:rPr>
              <a:t>of deaths in people with T1D under 40 are linked to “dead-in-bed” syndrome</a:t>
            </a:r>
            <a:endParaRPr lang="en-US" sz="1400" dirty="0"/>
          </a:p>
        </p:txBody>
      </p:sp>
      <p:sp>
        <p:nvSpPr>
          <p:cNvPr id="10" name="text-12"/>
          <p:cNvSpPr txBox="1"/>
          <p:nvPr/>
        </p:nvSpPr>
        <p:spPr>
          <a:xfrm>
            <a:off x="7863840" y="4754880"/>
            <a:ext cx="384048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~1 hour</a:t>
            </a:r>
            <a:endParaRPr lang="en-US" sz="4800" dirty="0"/>
          </a:p>
        </p:txBody>
      </p:sp>
      <p:sp>
        <p:nvSpPr>
          <p:cNvPr id="11" name="text-13"/>
          <p:cNvSpPr txBox="1"/>
          <p:nvPr/>
        </p:nvSpPr>
        <p:spPr>
          <a:xfrm>
            <a:off x="7863840" y="5623560"/>
            <a:ext cx="3840480" cy="685800"/>
          </a:xfrm>
          <a:prstGeom prst="rect">
            <a:avLst/>
          </a:prstGeom>
          <a:noFill/>
          <a:ln/>
        </p:spPr>
        <p:txBody>
          <a:bodyPr wrap="square" lIns="0" tIns="0" rIns="0" bIns="0" rtlCol="0" anchor="t"/>
          <a:lstStyle/>
          <a:p>
            <a:pPr indent="0" marL="0">
              <a:buNone/>
            </a:pPr>
            <a:r>
              <a:rPr lang="en-US" sz="1400" dirty="0">
                <a:solidFill>
                  <a:schemeClr val="accent5"/>
                </a:solidFill>
              </a:rPr>
              <a:t>of warning is enough to treat a low with a glass of juice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India has the most children with type 1 diabetes, and the least protection at night</a:t>
            </a:r>
            <a:endParaRPr lang="en-US" sz="3200" dirty="0"/>
          </a:p>
        </p:txBody>
      </p:sp>
      <p:sp>
        <p:nvSpPr>
          <p:cNvPr id="3" name="card-14"/>
          <p:cNvSpPr/>
          <p:nvPr/>
        </p:nvSpPr>
        <p:spPr>
          <a:xfrm>
            <a:off x="548640" y="1508760"/>
            <a:ext cx="2606040" cy="2834640"/>
          </a:xfrm>
          <a:prstGeom prst="roundRect">
            <a:avLst>
              <a:gd name="adj" fmla="val 4211"/>
            </a:avLst>
          </a:prstGeom>
          <a:solidFill>
            <a:schemeClr val="bg2"/>
          </a:solidFill>
          <a:ln w="12700">
            <a:solidFill>
              <a:schemeClr val="bg2"/>
            </a:solidFill>
            <a:prstDash val="solid"/>
          </a:ln>
        </p:spPr>
      </p:sp>
      <p:sp>
        <p:nvSpPr>
          <p:cNvPr id="4" name="text-15"/>
          <p:cNvSpPr txBox="1"/>
          <p:nvPr/>
        </p:nvSpPr>
        <p:spPr>
          <a:xfrm>
            <a:off x="777240" y="1737360"/>
            <a:ext cx="2240280" cy="8686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2.29 lakh</a:t>
            </a:r>
            <a:endParaRPr lang="en-US" sz="3200" dirty="0"/>
          </a:p>
        </p:txBody>
      </p:sp>
      <p:sp>
        <p:nvSpPr>
          <p:cNvPr id="5" name="text-16"/>
          <p:cNvSpPr txBox="1"/>
          <p:nvPr/>
        </p:nvSpPr>
        <p:spPr>
          <a:xfrm>
            <a:off x="777240" y="2606040"/>
            <a:ext cx="2240280" cy="685800"/>
          </a:xfrm>
          <a:prstGeom prst="rect">
            <a:avLst/>
          </a:prstGeom>
          <a:noFill/>
          <a:ln/>
        </p:spPr>
        <p:txBody>
          <a:bodyPr wrap="square" lIns="0" tIns="0" rIns="0" bIns="0" rtlCol="0" anchor="t"/>
          <a:lstStyle/>
          <a:p>
            <a:pPr indent="0" marL="0">
              <a:buNone/>
            </a:pPr>
            <a:r>
              <a:rPr lang="en-US" sz="1400" dirty="0">
                <a:solidFill>
                  <a:schemeClr val="tx2"/>
                </a:solidFill>
              </a:rPr>
              <a:t>Indian children and teens with T1D: the most of any country (IDF Atlas 2021)</a:t>
            </a:r>
            <a:endParaRPr lang="en-US" sz="1400" dirty="0"/>
          </a:p>
        </p:txBody>
      </p:sp>
      <p:sp>
        <p:nvSpPr>
          <p:cNvPr id="6" name="card-17"/>
          <p:cNvSpPr/>
          <p:nvPr/>
        </p:nvSpPr>
        <p:spPr>
          <a:xfrm>
            <a:off x="3364992" y="1508760"/>
            <a:ext cx="2606040" cy="2834640"/>
          </a:xfrm>
          <a:prstGeom prst="roundRect">
            <a:avLst>
              <a:gd name="adj" fmla="val 4211"/>
            </a:avLst>
          </a:prstGeom>
          <a:solidFill>
            <a:schemeClr val="bg2"/>
          </a:solidFill>
          <a:ln w="12700">
            <a:solidFill>
              <a:schemeClr val="bg2"/>
            </a:solidFill>
            <a:prstDash val="solid"/>
          </a:ln>
        </p:spPr>
      </p:sp>
      <p:sp>
        <p:nvSpPr>
          <p:cNvPr id="7" name="text-18"/>
          <p:cNvSpPr txBox="1"/>
          <p:nvPr/>
        </p:nvSpPr>
        <p:spPr>
          <a:xfrm>
            <a:off x="3593592" y="1737360"/>
            <a:ext cx="2240280" cy="8686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9.4 lakh</a:t>
            </a:r>
            <a:endParaRPr lang="en-US" sz="3200" dirty="0"/>
          </a:p>
        </p:txBody>
      </p:sp>
      <p:sp>
        <p:nvSpPr>
          <p:cNvPr id="8" name="text-19"/>
          <p:cNvSpPr txBox="1"/>
          <p:nvPr/>
        </p:nvSpPr>
        <p:spPr>
          <a:xfrm>
            <a:off x="3593592" y="2606040"/>
            <a:ext cx="2240280" cy="685800"/>
          </a:xfrm>
          <a:prstGeom prst="rect">
            <a:avLst/>
          </a:prstGeom>
          <a:noFill/>
          <a:ln/>
        </p:spPr>
        <p:txBody>
          <a:bodyPr wrap="square" lIns="0" tIns="0" rIns="0" bIns="0" rtlCol="0" anchor="t"/>
          <a:lstStyle/>
          <a:p>
            <a:pPr indent="0" marL="0">
              <a:buNone/>
            </a:pPr>
            <a:r>
              <a:rPr lang="en-US" sz="1400" dirty="0">
                <a:solidFill>
                  <a:schemeClr val="tx2"/>
                </a:solidFill>
              </a:rPr>
              <a:t>Indians of all ages with T1D (IDF Atlas 2025)</a:t>
            </a:r>
            <a:endParaRPr lang="en-US" sz="1400" dirty="0"/>
          </a:p>
        </p:txBody>
      </p:sp>
      <p:sp>
        <p:nvSpPr>
          <p:cNvPr id="9" name="card-20"/>
          <p:cNvSpPr/>
          <p:nvPr/>
        </p:nvSpPr>
        <p:spPr>
          <a:xfrm>
            <a:off x="6181344" y="1508760"/>
            <a:ext cx="2606040" cy="2834640"/>
          </a:xfrm>
          <a:prstGeom prst="roundRect">
            <a:avLst>
              <a:gd name="adj" fmla="val 4211"/>
            </a:avLst>
          </a:prstGeom>
          <a:solidFill>
            <a:schemeClr val="bg2"/>
          </a:solidFill>
          <a:ln w="12700">
            <a:solidFill>
              <a:schemeClr val="bg2"/>
            </a:solidFill>
            <a:prstDash val="solid"/>
          </a:ln>
        </p:spPr>
      </p:sp>
      <p:sp>
        <p:nvSpPr>
          <p:cNvPr id="10" name="text-21"/>
          <p:cNvSpPr txBox="1"/>
          <p:nvPr/>
        </p:nvSpPr>
        <p:spPr>
          <a:xfrm>
            <a:off x="6409944" y="1737360"/>
            <a:ext cx="2240280" cy="868680"/>
          </a:xfrm>
          <a:prstGeom prst="rect">
            <a:avLst/>
          </a:prstGeom>
          <a:noFill/>
          <a:ln/>
        </p:spPr>
        <p:txBody>
          <a:bodyPr wrap="square" lIns="0" tIns="0" rIns="0" bIns="0" rtlCol="0" anchor="t"/>
          <a:lstStyle/>
          <a:p>
            <a:pPr indent="0" marL="0">
              <a:buNone/>
            </a:pPr>
            <a:r>
              <a:rPr lang="en-US" sz="3200" b="1" dirty="0">
                <a:solidFill>
                  <a:schemeClr val="accent4"/>
                </a:solidFill>
                <a:latin typeface="Cambria" pitchFamily="34" charset="0"/>
                <a:ea typeface="Cambria" pitchFamily="34" charset="-122"/>
                <a:cs typeface="Cambria" pitchFamily="34" charset="-120"/>
              </a:rPr>
              <a:t>₹1.1 lakh+</a:t>
            </a:r>
            <a:endParaRPr lang="en-US" sz="3200" dirty="0"/>
          </a:p>
        </p:txBody>
      </p:sp>
      <p:sp>
        <p:nvSpPr>
          <p:cNvPr id="11" name="text-22"/>
          <p:cNvSpPr txBox="1"/>
          <p:nvPr/>
        </p:nvSpPr>
        <p:spPr>
          <a:xfrm>
            <a:off x="6409944" y="2606040"/>
            <a:ext cx="2240280" cy="685800"/>
          </a:xfrm>
          <a:prstGeom prst="rect">
            <a:avLst/>
          </a:prstGeom>
          <a:noFill/>
          <a:ln/>
        </p:spPr>
        <p:txBody>
          <a:bodyPr wrap="square" lIns="0" tIns="0" rIns="0" bIns="0" rtlCol="0" anchor="t"/>
          <a:lstStyle/>
          <a:p>
            <a:pPr indent="0" marL="0">
              <a:buNone/>
            </a:pPr>
            <a:r>
              <a:rPr lang="en-US" sz="1400" dirty="0">
                <a:solidFill>
                  <a:schemeClr val="tx2"/>
                </a:solidFill>
              </a:rPr>
              <a:t>a year for a CGM with low alarms (₹4–4.7k per 14-day sensor)</a:t>
            </a:r>
            <a:endParaRPr lang="en-US" sz="1400" dirty="0"/>
          </a:p>
        </p:txBody>
      </p:sp>
      <p:sp>
        <p:nvSpPr>
          <p:cNvPr id="12" name="card-23"/>
          <p:cNvSpPr/>
          <p:nvPr/>
        </p:nvSpPr>
        <p:spPr>
          <a:xfrm>
            <a:off x="8997696" y="1508760"/>
            <a:ext cx="2606040" cy="2834640"/>
          </a:xfrm>
          <a:prstGeom prst="roundRect">
            <a:avLst>
              <a:gd name="adj" fmla="val 4211"/>
            </a:avLst>
          </a:prstGeom>
          <a:solidFill>
            <a:schemeClr val="bg2"/>
          </a:solidFill>
          <a:ln w="12700">
            <a:solidFill>
              <a:schemeClr val="bg2"/>
            </a:solidFill>
            <a:prstDash val="solid"/>
          </a:ln>
        </p:spPr>
      </p:sp>
      <p:sp>
        <p:nvSpPr>
          <p:cNvPr id="13" name="text-24"/>
          <p:cNvSpPr txBox="1"/>
          <p:nvPr/>
        </p:nvSpPr>
        <p:spPr>
          <a:xfrm>
            <a:off x="9226296" y="1737360"/>
            <a:ext cx="2240280" cy="8686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NPH</a:t>
            </a:r>
            <a:endParaRPr lang="en-US" sz="3200" dirty="0"/>
          </a:p>
        </p:txBody>
      </p:sp>
      <p:sp>
        <p:nvSpPr>
          <p:cNvPr id="14" name="text-25"/>
          <p:cNvSpPr txBox="1"/>
          <p:nvPr/>
        </p:nvSpPr>
        <p:spPr>
          <a:xfrm>
            <a:off x="9226296" y="2606040"/>
            <a:ext cx="2240280" cy="685800"/>
          </a:xfrm>
          <a:prstGeom prst="rect">
            <a:avLst/>
          </a:prstGeom>
          <a:noFill/>
          <a:ln/>
        </p:spPr>
        <p:txBody>
          <a:bodyPr wrap="square" lIns="0" tIns="0" rIns="0" bIns="0" rtlCol="0" anchor="t"/>
          <a:lstStyle/>
          <a:p>
            <a:pPr indent="0" marL="0">
              <a:buNone/>
            </a:pPr>
            <a:r>
              <a:rPr lang="en-US" sz="1400" dirty="0">
                <a:solidFill>
                  <a:schemeClr val="tx2"/>
                </a:solidFill>
              </a:rPr>
              <a:t>Cheaper human insulin many programmes supply peaks between 1 and 4 AM, when everyone is asleep</a:t>
            </a:r>
            <a:endParaRPr lang="en-US" sz="1400" dirty="0"/>
          </a:p>
        </p:txBody>
      </p:sp>
      <p:sp>
        <p:nvSpPr>
          <p:cNvPr id="15" name="text-26"/>
          <p:cNvSpPr txBox="1"/>
          <p:nvPr/>
        </p:nvSpPr>
        <p:spPr>
          <a:xfrm>
            <a:off x="548640" y="4709160"/>
            <a:ext cx="11064240" cy="1097280"/>
          </a:xfrm>
          <a:prstGeom prst="rect">
            <a:avLst/>
          </a:prstGeom>
          <a:noFill/>
          <a:ln/>
        </p:spPr>
        <p:txBody>
          <a:bodyPr wrap="square" lIns="0" tIns="0" rIns="0" bIns="0" rtlCol="0" anchor="t"/>
          <a:lstStyle/>
          <a:p>
            <a:pPr indent="0" marL="0">
              <a:buNone/>
            </a:pPr>
            <a:r>
              <a:rPr lang="en-US" sz="1800" dirty="0">
                <a:solidFill>
                  <a:schemeClr val="tx2"/>
                </a:solidFill>
              </a:rPr>
              <a:t>Families choose between ₹1 lakh a year and a 2 AM finger-prick alarm. Fear of lows pushes sugars high, which harms eyes and kidneys later. Clinics have no way to tell which nights are dangerous.</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NightTwin: learn the child, live tonight first, guard the real night</a:t>
            </a:r>
            <a:endParaRPr lang="en-US" sz="3200" dirty="0"/>
          </a:p>
        </p:txBody>
      </p:sp>
      <p:sp>
        <p:nvSpPr>
          <p:cNvPr id="3" name="card-27"/>
          <p:cNvSpPr/>
          <p:nvPr/>
        </p:nvSpPr>
        <p:spPr>
          <a:xfrm>
            <a:off x="548640" y="1554480"/>
            <a:ext cx="3474720" cy="4023360"/>
          </a:xfrm>
          <a:prstGeom prst="roundRect">
            <a:avLst>
              <a:gd name="adj" fmla="val 3158"/>
            </a:avLst>
          </a:prstGeom>
          <a:solidFill>
            <a:schemeClr val="bg2"/>
          </a:solidFill>
          <a:ln w="12700">
            <a:solidFill>
              <a:schemeClr val="bg2"/>
            </a:solidFill>
            <a:prstDash val="solid"/>
          </a:ln>
        </p:spPr>
      </p:sp>
      <p:sp>
        <p:nvSpPr>
          <p:cNvPr id="4" name="badge-28"/>
          <p:cNvSpPr/>
          <p:nvPr/>
        </p:nvSpPr>
        <p:spPr>
          <a:xfrm>
            <a:off x="822960" y="1828800"/>
            <a:ext cx="548640" cy="548640"/>
          </a:xfrm>
          <a:prstGeom prst="ellipse">
            <a:avLst/>
          </a:prstGeom>
          <a:solidFill>
            <a:schemeClr val="accent1"/>
          </a:solidFill>
          <a:ln w="12700">
            <a:solidFill>
              <a:schemeClr val="accent1"/>
            </a:solidFill>
            <a:prstDash val="solid"/>
          </a:ln>
        </p:spPr>
      </p:sp>
      <p:sp>
        <p:nvSpPr>
          <p:cNvPr id="5" name="badge-label-29"/>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30"/>
          <p:cNvSpPr txBox="1"/>
          <p:nvPr/>
        </p:nvSpPr>
        <p:spPr>
          <a:xfrm>
            <a:off x="822960" y="2606040"/>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Learn the child</a:t>
            </a:r>
            <a:endParaRPr lang="en-US" sz="2200" dirty="0"/>
          </a:p>
        </p:txBody>
      </p:sp>
      <p:sp>
        <p:nvSpPr>
          <p:cNvPr id="7" name="text-31"/>
          <p:cNvSpPr txBox="1"/>
          <p:nvPr/>
        </p:nvSpPr>
        <p:spPr>
          <a:xfrm>
            <a:off x="822960" y="3200400"/>
            <a:ext cx="2926080" cy="2194560"/>
          </a:xfrm>
          <a:prstGeom prst="rect">
            <a:avLst/>
          </a:prstGeom>
          <a:noFill/>
          <a:ln/>
        </p:spPr>
        <p:txBody>
          <a:bodyPr wrap="square" lIns="0" tIns="0" rIns="0" bIns="0" rtlCol="0" anchor="t"/>
          <a:lstStyle/>
          <a:p>
            <a:pPr indent="0" marL="0">
              <a:buNone/>
            </a:pPr>
            <a:r>
              <a:rPr lang="en-US" sz="1600" dirty="0">
                <a:solidFill>
                  <a:schemeClr val="tx2"/>
                </a:solidFill>
              </a:rPr>
              <a:t>A personal glucose–insulin model is fitted to each child's own nights: insulin, meals, play, CGM or finger-pricks, plus the FHIR health record.</a:t>
            </a:r>
            <a:endParaRPr lang="en-US" sz="1600" dirty="0"/>
          </a:p>
        </p:txBody>
      </p:sp>
      <p:sp>
        <p:nvSpPr>
          <p:cNvPr id="8" name="card-32"/>
          <p:cNvSpPr/>
          <p:nvPr/>
        </p:nvSpPr>
        <p:spPr>
          <a:xfrm>
            <a:off x="4297680" y="1554480"/>
            <a:ext cx="3474720" cy="4023360"/>
          </a:xfrm>
          <a:prstGeom prst="roundRect">
            <a:avLst>
              <a:gd name="adj" fmla="val 3158"/>
            </a:avLst>
          </a:prstGeom>
          <a:solidFill>
            <a:schemeClr val="bg2"/>
          </a:solidFill>
          <a:ln w="12700">
            <a:solidFill>
              <a:schemeClr val="bg2"/>
            </a:solidFill>
            <a:prstDash val="solid"/>
          </a:ln>
        </p:spPr>
      </p:sp>
      <p:sp>
        <p:nvSpPr>
          <p:cNvPr id="9" name="badge-33"/>
          <p:cNvSpPr/>
          <p:nvPr/>
        </p:nvSpPr>
        <p:spPr>
          <a:xfrm>
            <a:off x="4572000" y="1828800"/>
            <a:ext cx="548640" cy="548640"/>
          </a:xfrm>
          <a:prstGeom prst="ellipse">
            <a:avLst/>
          </a:prstGeom>
          <a:solidFill>
            <a:schemeClr val="accent1"/>
          </a:solidFill>
          <a:ln w="12700">
            <a:solidFill>
              <a:schemeClr val="accent1"/>
            </a:solidFill>
            <a:prstDash val="solid"/>
          </a:ln>
        </p:spPr>
      </p:sp>
      <p:sp>
        <p:nvSpPr>
          <p:cNvPr id="10" name="badge-label-34"/>
          <p:cNvSpPr txBox="1"/>
          <p:nvPr/>
        </p:nvSpPr>
        <p:spPr>
          <a:xfrm>
            <a:off x="457200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35"/>
          <p:cNvSpPr txBox="1"/>
          <p:nvPr/>
        </p:nvSpPr>
        <p:spPr>
          <a:xfrm>
            <a:off x="4572000" y="2606040"/>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Live tonight first</a:t>
            </a:r>
            <a:endParaRPr lang="en-US" sz="2200" dirty="0"/>
          </a:p>
        </p:txBody>
      </p:sp>
      <p:sp>
        <p:nvSpPr>
          <p:cNvPr id="12" name="text-36"/>
          <p:cNvSpPr txBox="1"/>
          <p:nvPr/>
        </p:nvSpPr>
        <p:spPr>
          <a:xfrm>
            <a:off x="4572000" y="3200400"/>
            <a:ext cx="2926080" cy="2194560"/>
          </a:xfrm>
          <a:prstGeom prst="rect">
            <a:avLst/>
          </a:prstGeom>
          <a:noFill/>
          <a:ln/>
        </p:spPr>
        <p:txBody>
          <a:bodyPr wrap="square" lIns="0" tIns="0" rIns="0" bIns="0" rtlCol="0" anchor="t"/>
          <a:lstStyle/>
          <a:p>
            <a:pPr indent="0" marL="0">
              <a:buNone/>
            </a:pPr>
            <a:r>
              <a:rPr lang="en-US" sz="1600" dirty="0">
                <a:solidFill>
                  <a:schemeClr val="tx2"/>
                </a:solidFill>
              </a:rPr>
              <a:t>At 9 PM the twin simulates tonight 500 times. The doctor sees who is at risk, when and why, and rehearses a fix on the twin before prescribing it.</a:t>
            </a:r>
            <a:endParaRPr lang="en-US" sz="1600" dirty="0"/>
          </a:p>
        </p:txBody>
      </p:sp>
      <p:sp>
        <p:nvSpPr>
          <p:cNvPr id="13" name="card-37"/>
          <p:cNvSpPr/>
          <p:nvPr/>
        </p:nvSpPr>
        <p:spPr>
          <a:xfrm>
            <a:off x="8046720" y="1554480"/>
            <a:ext cx="3474720" cy="4023360"/>
          </a:xfrm>
          <a:prstGeom prst="roundRect">
            <a:avLst>
              <a:gd name="adj" fmla="val 3158"/>
            </a:avLst>
          </a:prstGeom>
          <a:solidFill>
            <a:schemeClr val="bg2"/>
          </a:solidFill>
          <a:ln w="12700">
            <a:solidFill>
              <a:schemeClr val="bg2"/>
            </a:solidFill>
            <a:prstDash val="solid"/>
          </a:ln>
        </p:spPr>
      </p:sp>
      <p:sp>
        <p:nvSpPr>
          <p:cNvPr id="14" name="badge-38"/>
          <p:cNvSpPr/>
          <p:nvPr/>
        </p:nvSpPr>
        <p:spPr>
          <a:xfrm>
            <a:off x="8321040" y="1828800"/>
            <a:ext cx="548640" cy="548640"/>
          </a:xfrm>
          <a:prstGeom prst="ellipse">
            <a:avLst/>
          </a:prstGeom>
          <a:solidFill>
            <a:schemeClr val="accent1"/>
          </a:solidFill>
          <a:ln w="12700">
            <a:solidFill>
              <a:schemeClr val="accent1"/>
            </a:solidFill>
            <a:prstDash val="solid"/>
          </a:ln>
        </p:spPr>
      </p:sp>
      <p:sp>
        <p:nvSpPr>
          <p:cNvPr id="15" name="badge-label-39"/>
          <p:cNvSpPr txBox="1"/>
          <p:nvPr/>
        </p:nvSpPr>
        <p:spPr>
          <a:xfrm>
            <a:off x="832104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40"/>
          <p:cNvSpPr txBox="1"/>
          <p:nvPr/>
        </p:nvSpPr>
        <p:spPr>
          <a:xfrm>
            <a:off x="8321040" y="2606040"/>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Guard the real night</a:t>
            </a:r>
            <a:endParaRPr lang="en-US" sz="2200" dirty="0"/>
          </a:p>
        </p:txBody>
      </p:sp>
      <p:sp>
        <p:nvSpPr>
          <p:cNvPr id="17" name="text-41"/>
          <p:cNvSpPr txBox="1"/>
          <p:nvPr/>
        </p:nvSpPr>
        <p:spPr>
          <a:xfrm>
            <a:off x="8321040" y="3200400"/>
            <a:ext cx="2926080" cy="2194560"/>
          </a:xfrm>
          <a:prstGeom prst="rect">
            <a:avLst/>
          </a:prstGeom>
          <a:noFill/>
          <a:ln/>
        </p:spPr>
        <p:txBody>
          <a:bodyPr wrap="square" lIns="0" tIns="0" rIns="0" bIns="0" rtlCol="0" anchor="t"/>
          <a:lstStyle/>
          <a:p>
            <a:pPr indent="0" marL="0">
              <a:buNone/>
            </a:pPr>
            <a:r>
              <a:rPr lang="en-US" sz="1600" dirty="0">
                <a:solidFill>
                  <a:schemeClr val="tx2"/>
                </a:solidFill>
              </a:rPr>
              <a:t>For CGM users, a model trained on real patients warns about an hour before a low and calls the parent in their own language.</a:t>
            </a:r>
            <a:endParaRPr lang="en-US" sz="1600" dirty="0"/>
          </a:p>
        </p:txBody>
      </p:sp>
      <p:sp>
        <p:nvSpPr>
          <p:cNvPr id="18" name="text-42"/>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400" i="1" dirty="0">
                <a:solidFill>
                  <a:schemeClr val="tx2"/>
                </a:solidFill>
              </a:rPr>
              <a:t>Decision support for clinicians. The doctor approves every change; families receive only approved actions.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Fusing the health record with wearable streams</a:t>
            </a:r>
            <a:endParaRPr lang="en-US" sz="3200" dirty="0"/>
          </a:p>
        </p:txBody>
      </p:sp>
      <p:sp>
        <p:nvSpPr>
          <p:cNvPr id="3" name="card-43"/>
          <p:cNvSpPr/>
          <p:nvPr/>
        </p:nvSpPr>
        <p:spPr>
          <a:xfrm>
            <a:off x="548640" y="1463040"/>
            <a:ext cx="3429000" cy="2926080"/>
          </a:xfrm>
          <a:prstGeom prst="roundRect">
            <a:avLst>
              <a:gd name="adj" fmla="val 3750"/>
            </a:avLst>
          </a:prstGeom>
          <a:solidFill>
            <a:schemeClr val="bg2"/>
          </a:solidFill>
          <a:ln w="12700">
            <a:solidFill>
              <a:schemeClr val="bg2"/>
            </a:solidFill>
            <a:prstDash val="solid"/>
          </a:ln>
        </p:spPr>
      </p:sp>
      <p:sp>
        <p:nvSpPr>
          <p:cNvPr id="4" name="text-44"/>
          <p:cNvSpPr txBox="1"/>
          <p:nvPr/>
        </p:nvSpPr>
        <p:spPr>
          <a:xfrm>
            <a:off x="777240" y="1645920"/>
            <a:ext cx="3017520" cy="457200"/>
          </a:xfrm>
          <a:prstGeom prst="rect">
            <a:avLst/>
          </a:prstGeom>
          <a:noFill/>
          <a:ln/>
        </p:spPr>
        <p:txBody>
          <a:bodyPr wrap="square" lIns="0" tIns="0" rIns="0" bIns="0" rtlCol="0" anchor="t"/>
          <a:lstStyle/>
          <a:p>
            <a:pPr indent="0" marL="0">
              <a:buNone/>
            </a:pPr>
            <a:r>
              <a:rPr lang="en-US" sz="1800" b="1" dirty="0">
                <a:solidFill>
                  <a:schemeClr val="accent6"/>
                </a:solidFill>
              </a:rPr>
              <a:t>Static: health record (FHIR R4)</a:t>
            </a:r>
            <a:endParaRPr lang="en-US" sz="1800" dirty="0"/>
          </a:p>
        </p:txBody>
      </p:sp>
      <p:sp>
        <p:nvSpPr>
          <p:cNvPr id="5" name="list-45"/>
          <p:cNvSpPr txBox="1"/>
          <p:nvPr/>
        </p:nvSpPr>
        <p:spPr>
          <a:xfrm>
            <a:off x="777240" y="219456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Age, weight, HbA1c, haemoglobin</a:t>
            </a:r>
            <a:endParaRPr lang="en-US" sz="1500" dirty="0"/>
          </a:p>
          <a:p>
            <a:pPr marL="342900" indent="-342900">
              <a:spcAft>
                <a:spcPts val="600"/>
              </a:spcAft>
              <a:buSzPct val="100000"/>
              <a:buChar char="•"/>
            </a:pPr>
            <a:r>
              <a:rPr lang="en-US" sz="1500" dirty="0">
                <a:solidFill>
                  <a:schemeClr val="tx1"/>
                </a:solidFill>
              </a:rPr>
              <a:t>Insulin regimen and daily dose</a:t>
            </a:r>
            <a:endParaRPr lang="en-US" sz="1500" dirty="0"/>
          </a:p>
          <a:p>
            <a:pPr marL="342900" indent="-342900">
              <a:spcAft>
                <a:spcPts val="600"/>
              </a:spcAft>
              <a:buSzPct val="100000"/>
              <a:buChar char="•"/>
            </a:pPr>
            <a:r>
              <a:rPr lang="en-US" sz="1500" dirty="0">
                <a:solidFill>
                  <a:schemeClr val="tx1"/>
                </a:solidFill>
              </a:rPr>
              <a:t>Past severe lows, hypo awareness</a:t>
            </a:r>
            <a:endParaRPr lang="en-US" sz="1500" dirty="0"/>
          </a:p>
          <a:p>
            <a:pPr marL="342900" indent="-342900">
              <a:spcAft>
                <a:spcPts val="600"/>
              </a:spcAft>
              <a:buSzPct val="100000"/>
              <a:buChar char="•"/>
            </a:pPr>
            <a:r>
              <a:rPr lang="en-US" sz="1500" dirty="0">
                <a:solidFill>
                  <a:schemeClr val="tx1"/>
                </a:solidFill>
              </a:rPr>
              <a:t>HLA genotype, islet autoantibodies</a:t>
            </a:r>
            <a:endParaRPr lang="en-US" sz="1500" dirty="0"/>
          </a:p>
        </p:txBody>
      </p:sp>
      <p:sp>
        <p:nvSpPr>
          <p:cNvPr id="6" name="text-46"/>
          <p:cNvSpPr txBox="1"/>
          <p:nvPr/>
        </p:nvSpPr>
        <p:spPr>
          <a:xfrm>
            <a:off x="4005072" y="2606040"/>
            <a:ext cx="411480" cy="548640"/>
          </a:xfrm>
          <a:prstGeom prst="rect">
            <a:avLst/>
          </a:prstGeom>
          <a:noFill/>
          <a:ln/>
        </p:spPr>
        <p:txBody>
          <a:bodyPr wrap="square" lIns="0" tIns="0" rIns="0" bIns="0" rtlCol="0" anchor="t"/>
          <a:lstStyle/>
          <a:p>
            <a:pPr algn="ctr" indent="0" marL="0">
              <a:buNone/>
            </a:pPr>
            <a:r>
              <a:rPr lang="en-US" sz="3000" b="1" dirty="0">
                <a:solidFill>
                  <a:schemeClr val="accent1"/>
                </a:solidFill>
              </a:rPr>
              <a:t>+</a:t>
            </a:r>
            <a:endParaRPr lang="en-US" sz="3000" dirty="0"/>
          </a:p>
        </p:txBody>
      </p:sp>
      <p:sp>
        <p:nvSpPr>
          <p:cNvPr id="7" name="card-47"/>
          <p:cNvSpPr/>
          <p:nvPr/>
        </p:nvSpPr>
        <p:spPr>
          <a:xfrm>
            <a:off x="4434840" y="1463040"/>
            <a:ext cx="3429000" cy="2926080"/>
          </a:xfrm>
          <a:prstGeom prst="roundRect">
            <a:avLst>
              <a:gd name="adj" fmla="val 3750"/>
            </a:avLst>
          </a:prstGeom>
          <a:solidFill>
            <a:schemeClr val="bg2"/>
          </a:solidFill>
          <a:ln w="12700">
            <a:solidFill>
              <a:schemeClr val="bg2"/>
            </a:solidFill>
            <a:prstDash val="solid"/>
          </a:ln>
        </p:spPr>
      </p:sp>
      <p:sp>
        <p:nvSpPr>
          <p:cNvPr id="8" name="text-48"/>
          <p:cNvSpPr txBox="1"/>
          <p:nvPr/>
        </p:nvSpPr>
        <p:spPr>
          <a:xfrm>
            <a:off x="4663440" y="164592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Dynamic: wearables</a:t>
            </a:r>
            <a:endParaRPr lang="en-US" sz="1800" dirty="0"/>
          </a:p>
        </p:txBody>
      </p:sp>
      <p:sp>
        <p:nvSpPr>
          <p:cNvPr id="9" name="list-49"/>
          <p:cNvSpPr txBox="1"/>
          <p:nvPr/>
        </p:nvSpPr>
        <p:spPr>
          <a:xfrm>
            <a:off x="4663440" y="219456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CGM every 5 min, or finger-pricks</a:t>
            </a:r>
            <a:endParaRPr lang="en-US" sz="1500" dirty="0"/>
          </a:p>
          <a:p>
            <a:pPr marL="342900" indent="-342900">
              <a:spcAft>
                <a:spcPts val="600"/>
              </a:spcAft>
              <a:buSzPct val="100000"/>
              <a:buChar char="•"/>
            </a:pPr>
            <a:r>
              <a:rPr lang="en-US" sz="1500" dirty="0">
                <a:solidFill>
                  <a:schemeClr val="tx1"/>
                </a:solidFill>
              </a:rPr>
              <a:t>Insulin doses and meals</a:t>
            </a:r>
            <a:endParaRPr lang="en-US" sz="1500" dirty="0"/>
          </a:p>
          <a:p>
            <a:pPr marL="342900" indent="-342900">
              <a:spcAft>
                <a:spcPts val="600"/>
              </a:spcAft>
              <a:buSzPct val="100000"/>
              <a:buChar char="•"/>
            </a:pPr>
            <a:r>
              <a:rPr lang="en-US" sz="1500" dirty="0">
                <a:solidFill>
                  <a:schemeClr val="tx1"/>
                </a:solidFill>
              </a:rPr>
              <a:t>Steps and heart rate from a band</a:t>
            </a:r>
            <a:endParaRPr lang="en-US" sz="1500" dirty="0"/>
          </a:p>
          <a:p>
            <a:pPr marL="342900" indent="-342900">
              <a:spcAft>
                <a:spcPts val="600"/>
              </a:spcAft>
              <a:buSzPct val="100000"/>
              <a:buChar char="•"/>
            </a:pPr>
            <a:r>
              <a:rPr lang="en-US" sz="1500" dirty="0">
                <a:solidFill>
                  <a:schemeClr val="tx1"/>
                </a:solidFill>
              </a:rPr>
              <a:t>Sleep window</a:t>
            </a:r>
            <a:endParaRPr lang="en-US" sz="1500" dirty="0"/>
          </a:p>
        </p:txBody>
      </p:sp>
      <p:sp>
        <p:nvSpPr>
          <p:cNvPr id="10" name="text-50"/>
          <p:cNvSpPr txBox="1"/>
          <p:nvPr/>
        </p:nvSpPr>
        <p:spPr>
          <a:xfrm>
            <a:off x="7891272" y="2606040"/>
            <a:ext cx="411480" cy="548640"/>
          </a:xfrm>
          <a:prstGeom prst="rect">
            <a:avLst/>
          </a:prstGeom>
          <a:noFill/>
          <a:ln/>
        </p:spPr>
        <p:txBody>
          <a:bodyPr wrap="square" lIns="0" tIns="0" rIns="0" bIns="0" rtlCol="0" anchor="t"/>
          <a:lstStyle/>
          <a:p>
            <a:pPr algn="ctr" indent="0" marL="0">
              <a:buNone/>
            </a:pPr>
            <a:r>
              <a:rPr lang="en-US" sz="3000" b="1" dirty="0">
                <a:solidFill>
                  <a:schemeClr val="accent1"/>
                </a:solidFill>
              </a:rPr>
              <a:t>→</a:t>
            </a:r>
            <a:endParaRPr lang="en-US" sz="3000" dirty="0"/>
          </a:p>
        </p:txBody>
      </p:sp>
      <p:sp>
        <p:nvSpPr>
          <p:cNvPr id="11" name="card-51"/>
          <p:cNvSpPr/>
          <p:nvPr/>
        </p:nvSpPr>
        <p:spPr>
          <a:xfrm>
            <a:off x="8321040" y="1463040"/>
            <a:ext cx="3429000" cy="2926080"/>
          </a:xfrm>
          <a:prstGeom prst="roundRect">
            <a:avLst>
              <a:gd name="adj" fmla="val 3750"/>
            </a:avLst>
          </a:prstGeom>
          <a:solidFill>
            <a:schemeClr val="bg2"/>
          </a:solidFill>
          <a:ln w="12700">
            <a:solidFill>
              <a:schemeClr val="bg2"/>
            </a:solidFill>
            <a:prstDash val="solid"/>
          </a:ln>
        </p:spPr>
      </p:sp>
      <p:sp>
        <p:nvSpPr>
          <p:cNvPr id="12" name="text-52"/>
          <p:cNvSpPr txBox="1"/>
          <p:nvPr/>
        </p:nvSpPr>
        <p:spPr>
          <a:xfrm>
            <a:off x="8549640" y="1645920"/>
            <a:ext cx="3017520" cy="457200"/>
          </a:xfrm>
          <a:prstGeom prst="rect">
            <a:avLst/>
          </a:prstGeom>
          <a:noFill/>
          <a:ln/>
        </p:spPr>
        <p:txBody>
          <a:bodyPr wrap="square" lIns="0" tIns="0" rIns="0" bIns="0" rtlCol="0" anchor="t"/>
          <a:lstStyle/>
          <a:p>
            <a:pPr indent="0" marL="0">
              <a:buNone/>
            </a:pPr>
            <a:r>
              <a:rPr lang="en-US" sz="1800" b="1" dirty="0">
                <a:solidFill>
                  <a:schemeClr val="accent3"/>
                </a:solidFill>
              </a:rPr>
              <a:t>Twin output</a:t>
            </a:r>
            <a:endParaRPr lang="en-US" sz="1800" dirty="0"/>
          </a:p>
        </p:txBody>
      </p:sp>
      <p:sp>
        <p:nvSpPr>
          <p:cNvPr id="13" name="list-53"/>
          <p:cNvSpPr txBox="1"/>
          <p:nvPr/>
        </p:nvSpPr>
        <p:spPr>
          <a:xfrm>
            <a:off x="8549640" y="219456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Tonight's risk, time and depth of a low</a:t>
            </a:r>
            <a:endParaRPr lang="en-US" sz="1500" dirty="0"/>
          </a:p>
          <a:p>
            <a:pPr marL="342900" indent="-342900">
              <a:spcAft>
                <a:spcPts val="600"/>
              </a:spcAft>
              <a:buSzPct val="100000"/>
              <a:buChar char="•"/>
            </a:pPr>
            <a:r>
              <a:rPr lang="en-US" sz="1500" dirty="0">
                <a:solidFill>
                  <a:schemeClr val="tx1"/>
                </a:solidFill>
              </a:rPr>
              <a:t>Factor-by-factor explanation</a:t>
            </a:r>
            <a:endParaRPr lang="en-US" sz="1500" dirty="0"/>
          </a:p>
          <a:p>
            <a:pPr marL="342900" indent="-342900">
              <a:spcAft>
                <a:spcPts val="600"/>
              </a:spcAft>
              <a:buSzPct val="100000"/>
              <a:buChar char="•"/>
            </a:pPr>
            <a:r>
              <a:rPr lang="en-US" sz="1500" dirty="0">
                <a:solidFill>
                  <a:schemeClr val="tx1"/>
                </a:solidFill>
              </a:rPr>
              <a:t>Rehearsed plan, doctor-approved</a:t>
            </a:r>
            <a:endParaRPr lang="en-US" sz="1500" dirty="0"/>
          </a:p>
          <a:p>
            <a:pPr marL="342900" indent="-342900">
              <a:spcAft>
                <a:spcPts val="600"/>
              </a:spcAft>
              <a:buSzPct val="100000"/>
              <a:buChar char="•"/>
            </a:pPr>
            <a:r>
              <a:rPr lang="en-US" sz="1500" dirty="0">
                <a:solidFill>
                  <a:schemeClr val="tx1"/>
                </a:solidFill>
              </a:rPr>
              <a:t>Real-time alert to the parent</a:t>
            </a:r>
            <a:endParaRPr lang="en-US" sz="1500" dirty="0"/>
          </a:p>
        </p:txBody>
      </p:sp>
      <p:graphicFrame>
        <p:nvGraphicFramePr>
          <p:cNvPr id="6" name="data-table"/>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2926080"/>
                <a:gridCol w="5852160"/>
                <a:gridCol w="2286000"/>
              </a:tblGrid>
              <a:tr h="329184">
                <a:tc>
                  <a:txBody>
                    <a:bodyPr/>
                    <a:lstStyle/>
                    <a:p>
                      <a:pPr indent="0" marL="0">
                        <a:buNone/>
                      </a:pPr>
                      <a:r>
                        <a:rPr lang="en-US" sz="1200" b="1" dirty="0">
                          <a:solidFill>
                            <a:srgbClr val="FFFFFF"/>
                          </a:solidFill>
                        </a:rPr>
                        <a:t>Dataset</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What it contains</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Role</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29184">
                <a:tc>
                  <a:txBody>
                    <a:bodyPr/>
                    <a:lstStyle/>
                    <a:p>
                      <a:pPr indent="0" marL="0">
                        <a:buNone/>
                      </a:pPr>
                      <a:r>
                        <a:rPr lang="en-US" sz="1200" dirty="0">
                          <a:solidFill>
                            <a:srgbClr val="334155"/>
                          </a:solidFill>
                        </a:rPr>
                        <a:t>HUPA-UCM (Spain, CC BY 4.0)</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rPr>
                        <a:t>25 people with T1D: Libre 2 CGM, Fitbit heart rate and steps, insulin, carbs</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rPr>
                        <a:t>Training + patient-held-out validation</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29184">
                <a:tc>
                  <a:txBody>
                    <a:bodyPr/>
                    <a:lstStyle/>
                    <a:p>
                      <a:pPr indent="0" marL="0">
                        <a:buNone/>
                      </a:pPr>
                      <a:r>
                        <a:rPr lang="en-US" sz="1200" dirty="0">
                          <a:solidFill>
                            <a:srgbClr val="334155"/>
                          </a:solidFill>
                        </a:rPr>
                        <a:t>T1D-UOM (UK, CC BY 4.0)</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rPr>
                        <a:t>T1D, 3 months each: CGM, pump and injected insulin, food, Garmin activity, sleep</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rPr>
                        <a:t>External test</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29184">
                <a:tc>
                  <a:txBody>
                    <a:bodyPr/>
                    <a:lstStyle/>
                    <a:p>
                      <a:pPr indent="0" marL="0">
                        <a:buNone/>
                      </a:pPr>
                      <a:r>
                        <a:rPr lang="en-US" sz="1200" dirty="0">
                          <a:solidFill>
                            <a:srgbClr val="334155"/>
                          </a:solidFill>
                        </a:rPr>
                        <a:t>Synthetic Indian cohort</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rPr>
                        <a:t>12 children, 14 days, Indian routines, NPH/premixed/glargine, FHIR records</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rPr>
                        <a:t>Dashboard demo only</a:t>
                      </a:r>
                      <a:endParaRPr lang="en-US" sz="1200" dirty="0"/>
                    </a:p>
                  </a:txBody>
                  <a:tcPr marL="91440" marR="91440" marT="45720" marB="4572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Architecture</a:t>
            </a:r>
            <a:endParaRPr lang="en-US" sz="3200" dirty="0"/>
          </a:p>
        </p:txBody>
      </p:sp>
      <p:pic>
        <p:nvPicPr>
          <p:cNvPr id="3" name="image-54" descr="NightTwin architecture: data, preparation, models, API, users, trust layer">    </p:cNvPr>
          <p:cNvPicPr>
            <a:picLocks noChangeAspect="1"/>
          </p:cNvPicPr>
          <p:nvPr/>
        </p:nvPicPr>
        <p:blipFill>
          <a:blip r:embed="rId1"/>
          <a:stretch>
            <a:fillRect/>
          </a:stretch>
        </p:blipFill>
        <p:spPr>
          <a:xfrm>
            <a:off x="1463040" y="1097280"/>
            <a:ext cx="9235440" cy="5205430"/>
          </a:xfrm>
          <a:prstGeom prst="rect">
            <a:avLst/>
          </a:prstGeom>
        </p:spPr>
      </p:pic>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physiology twin: a personal model of each child</a:t>
            </a:r>
            <a:endParaRPr lang="en-US" sz="3200" dirty="0"/>
          </a:p>
        </p:txBody>
      </p:sp>
      <p:pic>
        <p:nvPicPr>
          <p:cNvPr id="3" name="image-55" descr="Ananya's night simulated 500 times; risk falls from 58% to 14% with a plan">    </p:cNvPr>
          <p:cNvPicPr>
            <a:picLocks noChangeAspect="1"/>
          </p:cNvPicPr>
          <p:nvPr/>
        </p:nvPicPr>
        <p:blipFill>
          <a:blip r:embed="rId1"/>
          <a:stretch>
            <a:fillRect/>
          </a:stretch>
        </p:blipFill>
        <p:spPr>
          <a:xfrm>
            <a:off x="548640" y="1280160"/>
            <a:ext cx="7223760" cy="2964771"/>
          </a:xfrm>
          <a:prstGeom prst="rect">
            <a:avLst/>
          </a:prstGeom>
        </p:spPr>
      </p:pic>
      <p:sp>
        <p:nvSpPr>
          <p:cNvPr id="4" name="list-56"/>
          <p:cNvSpPr txBox="1"/>
          <p:nvPr/>
        </p:nvSpPr>
        <p:spPr>
          <a:xfrm>
            <a:off x="8046720" y="1325880"/>
            <a:ext cx="3611880" cy="4206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Bergman glucose–insulin model with rapid and long-acting (NPH or glargine) insulin depots, gut absorption and a 4-hour exercise effect</a:t>
            </a:r>
            <a:endParaRPr lang="en-US" sz="1500" dirty="0"/>
          </a:p>
          <a:p>
            <a:pPr marL="342900" indent="-342900">
              <a:spcAft>
                <a:spcPts val="600"/>
              </a:spcAft>
              <a:buSzPct val="100000"/>
              <a:buChar char="•"/>
            </a:pPr>
            <a:r>
              <a:rPr lang="en-US" sz="1500" dirty="0">
                <a:solidFill>
                  <a:schemeClr val="tx1"/>
                </a:solidFill>
              </a:rPr>
              <a:t>Fitted on the child's own past nights; insulin sensitivity anchored to the clinical 1800 rule</a:t>
            </a:r>
            <a:endParaRPr lang="en-US" sz="1500" dirty="0"/>
          </a:p>
          <a:p>
            <a:pPr marL="342900" indent="-342900">
              <a:spcAft>
                <a:spcPts val="600"/>
              </a:spcAft>
              <a:buSzPct val="100000"/>
              <a:buChar char="•"/>
            </a:pPr>
            <a:r>
              <a:rPr lang="en-US" sz="1500" dirty="0">
                <a:solidFill>
                  <a:schemeClr val="tx1"/>
                </a:solidFill>
              </a:rPr>
              <a:t>Unlogged meals inferred from mealtime insulin (500 rule)</a:t>
            </a:r>
            <a:endParaRPr lang="en-US" sz="1500" dirty="0"/>
          </a:p>
          <a:p>
            <a:pPr marL="342900" indent="-342900">
              <a:spcAft>
                <a:spcPts val="600"/>
              </a:spcAft>
              <a:buSzPct val="100000"/>
              <a:buChar char="•"/>
            </a:pPr>
            <a:r>
              <a:rPr lang="en-US" sz="1500" dirty="0">
                <a:solidFill>
                  <a:schemeClr val="tx1"/>
                </a:solidFill>
              </a:rPr>
              <a:t>Assimilates today's readings, then runs 23:00–07:30 as a 500-member ensemble</a:t>
            </a:r>
            <a:endParaRPr lang="en-US" sz="1500" dirty="0"/>
          </a:p>
        </p:txBody>
      </p:sp>
      <p:sp>
        <p:nvSpPr>
          <p:cNvPr id="5" name="text-57"/>
          <p:cNvSpPr txBox="1"/>
          <p:nvPr/>
        </p:nvSpPr>
        <p:spPr>
          <a:xfrm>
            <a:off x="548640" y="4434840"/>
            <a:ext cx="7223760" cy="320040"/>
          </a:xfrm>
          <a:prstGeom prst="rect">
            <a:avLst/>
          </a:prstGeom>
          <a:noFill/>
          <a:ln/>
        </p:spPr>
        <p:txBody>
          <a:bodyPr wrap="square" lIns="0" tIns="0" rIns="0" bIns="0" rtlCol="0" anchor="t"/>
          <a:lstStyle/>
          <a:p>
            <a:pPr indent="0" marL="0">
              <a:buNone/>
            </a:pPr>
            <a:r>
              <a:rPr lang="en-US" sz="1200" i="1" dirty="0">
                <a:solidFill>
                  <a:schemeClr val="tx2"/>
                </a:solidFill>
              </a:rPr>
              <a:t>Synthetic patient · the method, not an accuracy claim</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Rehearse the fix on the twin before prescribing it</a:t>
            </a:r>
            <a:endParaRPr lang="en-US" sz="3200" dirty="0"/>
          </a:p>
        </p:txBody>
      </p:sp>
      <p:pic>
        <p:nvPicPr>
          <p:cNvPr id="3" name="image-58" descr="Ananya's twin page in the dashboard">    </p:cNvPr>
          <p:cNvPicPr>
            <a:picLocks noChangeAspect="1"/>
          </p:cNvPicPr>
          <p:nvPr/>
        </p:nvPicPr>
        <p:blipFill>
          <a:blip r:embed="rId1"/>
          <a:stretch>
            <a:fillRect/>
          </a:stretch>
        </p:blipFill>
        <p:spPr>
          <a:xfrm>
            <a:off x="548640" y="1234440"/>
            <a:ext cx="6949440" cy="4826000"/>
          </a:xfrm>
          <a:prstGeom prst="rect">
            <a:avLst/>
          </a:prstGeom>
        </p:spPr>
      </p:pic>
      <p:sp>
        <p:nvSpPr>
          <p:cNvPr id="4" name="text-59"/>
          <p:cNvSpPr txBox="1"/>
          <p:nvPr/>
        </p:nvSpPr>
        <p:spPr>
          <a:xfrm>
            <a:off x="7863840" y="1280160"/>
            <a:ext cx="384048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58% → 14%</a:t>
            </a:r>
            <a:endParaRPr lang="en-US" sz="4800" dirty="0"/>
          </a:p>
        </p:txBody>
      </p:sp>
      <p:sp>
        <p:nvSpPr>
          <p:cNvPr id="5" name="text-60"/>
          <p:cNvSpPr txBox="1"/>
          <p:nvPr/>
        </p:nvSpPr>
        <p:spPr>
          <a:xfrm>
            <a:off x="7863840" y="2148840"/>
            <a:ext cx="3840480" cy="685800"/>
          </a:xfrm>
          <a:prstGeom prst="rect">
            <a:avLst/>
          </a:prstGeom>
          <a:noFill/>
          <a:ln/>
        </p:spPr>
        <p:txBody>
          <a:bodyPr wrap="square" lIns="0" tIns="0" rIns="0" bIns="0" rtlCol="0" anchor="t"/>
          <a:lstStyle/>
          <a:p>
            <a:pPr indent="0" marL="0">
              <a:buNone/>
            </a:pPr>
            <a:r>
              <a:rPr lang="en-US" sz="1400" dirty="0">
                <a:solidFill>
                  <a:schemeClr val="tx2"/>
                </a:solidFill>
              </a:rPr>
              <a:t>Ananya's simulated risk of a night low, before and after: 15 g bedtime snack + NPH moved 90 min later</a:t>
            </a:r>
            <a:endParaRPr lang="en-US" sz="1400" dirty="0"/>
          </a:p>
        </p:txBody>
      </p:sp>
      <p:sp>
        <p:nvSpPr>
          <p:cNvPr id="6" name="list-61"/>
          <p:cNvSpPr txBox="1"/>
          <p:nvPr/>
        </p:nvSpPr>
        <p:spPr>
          <a:xfrm>
            <a:off x="7863840" y="3246120"/>
            <a:ext cx="384048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Bedtime snack (15 or 30 g)</a:t>
            </a:r>
            <a:endParaRPr lang="en-US" sz="1500" dirty="0"/>
          </a:p>
          <a:p>
            <a:pPr marL="342900" indent="-342900">
              <a:spcAft>
                <a:spcPts val="600"/>
              </a:spcAft>
              <a:buSzPct val="100000"/>
              <a:buChar char="•"/>
            </a:pPr>
            <a:r>
              <a:rPr lang="en-US" sz="1500" dirty="0">
                <a:solidFill>
                  <a:schemeClr val="tx1"/>
                </a:solidFill>
              </a:rPr>
              <a:t>Smaller dinner insulin dose after a sports day</a:t>
            </a:r>
            <a:endParaRPr lang="en-US" sz="1500" dirty="0"/>
          </a:p>
          <a:p>
            <a:pPr marL="342900" indent="-342900">
              <a:spcAft>
                <a:spcPts val="600"/>
              </a:spcAft>
              <a:buSzPct val="100000"/>
              <a:buChar char="•"/>
            </a:pPr>
            <a:r>
              <a:rPr lang="en-US" sz="1500" dirty="0">
                <a:solidFill>
                  <a:schemeClr val="tx1"/>
                </a:solidFill>
              </a:rPr>
              <a:t>Move NPH from dinner to bedtime</a:t>
            </a:r>
            <a:endParaRPr lang="en-US" sz="1500" dirty="0"/>
          </a:p>
          <a:p>
            <a:pPr marL="342900" indent="-342900">
              <a:spcAft>
                <a:spcPts val="600"/>
              </a:spcAft>
              <a:buSzPct val="100000"/>
              <a:buChar char="•"/>
            </a:pPr>
            <a:r>
              <a:rPr lang="en-US" sz="1500" dirty="0">
                <a:solidFill>
                  <a:schemeClr val="tx1"/>
                </a:solidFill>
              </a:rPr>
              <a:t>Explanations: the twin removes one factor at a time and re-lives the night</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Night guard: wake the parent before the low, not after</a:t>
            </a:r>
            <a:endParaRPr lang="en-US" sz="3200" dirty="0"/>
          </a:p>
        </p:txBody>
      </p:sp>
      <p:pic>
        <p:nvPicPr>
          <p:cNvPr id="3" name="image-62" descr="Arjun's night replay: alert before the low">    </p:cNvPr>
          <p:cNvPicPr>
            <a:picLocks noChangeAspect="1"/>
          </p:cNvPicPr>
          <p:nvPr/>
        </p:nvPicPr>
        <p:blipFill>
          <a:blip r:embed="rId1"/>
          <a:stretch>
            <a:fillRect/>
          </a:stretch>
        </p:blipFill>
        <p:spPr>
          <a:xfrm>
            <a:off x="548640" y="1280160"/>
            <a:ext cx="7406640" cy="2889248"/>
          </a:xfrm>
          <a:prstGeom prst="rect">
            <a:avLst/>
          </a:prstGeom>
        </p:spPr>
      </p:pic>
      <p:sp>
        <p:nvSpPr>
          <p:cNvPr id="4" name="text-63"/>
          <p:cNvSpPr txBox="1"/>
          <p:nvPr/>
        </p:nvSpPr>
        <p:spPr>
          <a:xfrm>
            <a:off x="8321040" y="1280160"/>
            <a:ext cx="338328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97%</a:t>
            </a:r>
            <a:endParaRPr lang="en-US" sz="4800" dirty="0"/>
          </a:p>
        </p:txBody>
      </p:sp>
      <p:sp>
        <p:nvSpPr>
          <p:cNvPr id="5" name="text-64"/>
          <p:cNvSpPr txBox="1"/>
          <p:nvPr/>
        </p:nvSpPr>
        <p:spPr>
          <a:xfrm>
            <a:off x="8321040" y="2148840"/>
            <a:ext cx="3383280" cy="685800"/>
          </a:xfrm>
          <a:prstGeom prst="rect">
            <a:avLst/>
          </a:prstGeom>
          <a:noFill/>
          <a:ln/>
        </p:spPr>
        <p:txBody>
          <a:bodyPr wrap="square" lIns="0" tIns="0" rIns="0" bIns="0" rtlCol="0" anchor="t"/>
          <a:lstStyle/>
          <a:p>
            <a:pPr indent="0" marL="0">
              <a:buNone/>
            </a:pPr>
            <a:r>
              <a:rPr lang="en-US" sz="1400" dirty="0">
                <a:solidFill>
                  <a:schemeClr val="tx2"/>
                </a:solidFill>
              </a:rPr>
              <a:t>of 315 real night-time lows warned at least 15 min ahead (unseen patients)</a:t>
            </a:r>
            <a:endParaRPr lang="en-US" sz="1400" dirty="0"/>
          </a:p>
        </p:txBody>
      </p:sp>
      <p:sp>
        <p:nvSpPr>
          <p:cNvPr id="6" name="text-65"/>
          <p:cNvSpPr txBox="1"/>
          <p:nvPr/>
        </p:nvSpPr>
        <p:spPr>
          <a:xfrm>
            <a:off x="8321040" y="3017520"/>
            <a:ext cx="338328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65 min</a:t>
            </a:r>
            <a:endParaRPr lang="en-US" sz="4800" dirty="0"/>
          </a:p>
        </p:txBody>
      </p:sp>
      <p:sp>
        <p:nvSpPr>
          <p:cNvPr id="7" name="text-66"/>
          <p:cNvSpPr txBox="1"/>
          <p:nvPr/>
        </p:nvSpPr>
        <p:spPr>
          <a:xfrm>
            <a:off x="8321040" y="3886200"/>
            <a:ext cx="3383280" cy="685800"/>
          </a:xfrm>
          <a:prstGeom prst="rect">
            <a:avLst/>
          </a:prstGeom>
          <a:noFill/>
          <a:ln/>
        </p:spPr>
        <p:txBody>
          <a:bodyPr wrap="square" lIns="0" tIns="0" rIns="0" bIns="0" rtlCol="0" anchor="t"/>
          <a:lstStyle/>
          <a:p>
            <a:pPr indent="0" marL="0">
              <a:buNone/>
            </a:pPr>
            <a:r>
              <a:rPr lang="en-US" sz="1400" dirty="0">
                <a:solidFill>
                  <a:schemeClr val="tx2"/>
                </a:solidFill>
              </a:rPr>
              <a:t>median warning</a:t>
            </a:r>
            <a:endParaRPr lang="en-US" sz="1400" dirty="0"/>
          </a:p>
        </p:txBody>
      </p:sp>
      <p:sp>
        <p:nvSpPr>
          <p:cNvPr id="8" name="text-67"/>
          <p:cNvSpPr txBox="1"/>
          <p:nvPr/>
        </p:nvSpPr>
        <p:spPr>
          <a:xfrm>
            <a:off x="8321040" y="4572000"/>
            <a:ext cx="338328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0.55</a:t>
            </a:r>
            <a:endParaRPr lang="en-US" sz="4800" dirty="0"/>
          </a:p>
        </p:txBody>
      </p:sp>
      <p:sp>
        <p:nvSpPr>
          <p:cNvPr id="9" name="text-68"/>
          <p:cNvSpPr txBox="1"/>
          <p:nvPr/>
        </p:nvSpPr>
        <p:spPr>
          <a:xfrm>
            <a:off x="8321040" y="5440680"/>
            <a:ext cx="3383280" cy="685800"/>
          </a:xfrm>
          <a:prstGeom prst="rect">
            <a:avLst/>
          </a:prstGeom>
          <a:noFill/>
          <a:ln/>
        </p:spPr>
        <p:txBody>
          <a:bodyPr wrap="square" lIns="0" tIns="0" rIns="0" bIns="0" rtlCol="0" anchor="t"/>
          <a:lstStyle/>
          <a:p>
            <a:pPr indent="0" marL="0">
              <a:buNone/>
            </a:pPr>
            <a:r>
              <a:rPr lang="en-US" sz="1400" dirty="0">
                <a:solidFill>
                  <a:schemeClr val="tx2"/>
                </a:solidFill>
              </a:rPr>
              <a:t>false alarms per night</a:t>
            </a:r>
            <a:endParaRPr lang="en-US" sz="1400" dirty="0"/>
          </a:p>
        </p:txBody>
      </p:sp>
      <p:sp>
        <p:nvSpPr>
          <p:cNvPr id="10" name="text-69"/>
          <p:cNvSpPr txBox="1"/>
          <p:nvPr/>
        </p:nvSpPr>
        <p:spPr>
          <a:xfrm>
            <a:off x="548640" y="4343400"/>
            <a:ext cx="7406640" cy="914400"/>
          </a:xfrm>
          <a:prstGeom prst="rect">
            <a:avLst/>
          </a:prstGeom>
          <a:noFill/>
          <a:ln/>
        </p:spPr>
        <p:txBody>
          <a:bodyPr wrap="square" lIns="0" tIns="0" rIns="0" bIns="0" rtlCol="0" anchor="t"/>
          <a:lstStyle/>
          <a:p>
            <a:pPr indent="0" marL="0">
              <a:buNone/>
            </a:pPr>
            <a:r>
              <a:rPr lang="en-US" sz="1500" dirty="0">
                <a:solidFill>
                  <a:schemeClr val="tx2"/>
                </a:solidFill>
              </a:rPr>
              <a:t>LightGBM on glucose history, insulin and carbs on board, steps and heart rate; 15-minute smoothing. Alert goes as a voice call in the family's language.</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Results on real patients the model never saw</a:t>
            </a:r>
            <a:endParaRPr lang="en-US" sz="3200" dirty="0"/>
          </a:p>
        </p:txBody>
      </p:sp>
      <p:graphicFrame>
        <p:nvGraphicFramePr>
          <p:cNvPr id="3" name="chart-guard" descr=""/>
          <p:cNvGraphicFramePr/>
          <p:nvPr/>
        </p:nvGraphicFramePr>
        <p:xfrm>
          <a:off x="548640" y="128016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forecast" descr=""/>
          <p:cNvGraphicFramePr/>
          <p:nvPr/>
        </p:nvGraphicFramePr>
        <p:xfrm>
          <a:off x="6309360" y="1280160"/>
          <a:ext cx="5349240" cy="4206240"/>
        </p:xfrm>
        <a:graphic xmlns:a="http://schemas.openxmlformats.org/drawingml/2006/main">
          <a:graphicData uri="http://schemas.openxmlformats.org/drawingml/2006/chart">
            <c:chart xmlns:c="http://schemas.openxmlformats.org/drawingml/2006/chart" r:id="rId2"/>
          </a:graphicData>
        </a:graphic>
      </p:graphicFrame>
      <p:sp>
        <p:nvSpPr>
          <p:cNvPr id="5" name="text-70"/>
          <p:cNvSpPr txBox="1"/>
          <p:nvPr/>
        </p:nvSpPr>
        <p:spPr>
          <a:xfrm>
            <a:off x="548640" y="5623560"/>
            <a:ext cx="11064240" cy="640080"/>
          </a:xfrm>
          <a:prstGeom prst="rect">
            <a:avLst/>
          </a:prstGeom>
          <a:noFill/>
          <a:ln/>
        </p:spPr>
        <p:txBody>
          <a:bodyPr wrap="square" lIns="0" tIns="0" rIns="0" bIns="0" rtlCol="0" anchor="t"/>
          <a:lstStyle/>
          <a:p>
            <a:pPr indent="0" marL="0">
              <a:buNone/>
            </a:pPr>
            <a:r>
              <a:rPr lang="en-US" sz="1400" dirty="0">
                <a:solidFill>
                  <a:schemeClr val="tx2"/>
                </a:solidFill>
              </a:rPr>
              <a:t>Night-guard AUROC: 0.93 for a low within 60 min, 0.88 within 2 h. Clarke error grid A+B at 30 min: 97.6%. Patients split into 5 groups, so every score is on people the model never saw.</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did not work, and what we did about it</a:t>
            </a:r>
            <a:endParaRPr lang="en-US" sz="3200" dirty="0"/>
          </a:p>
        </p:txBody>
      </p:sp>
      <p:graphicFrame>
        <p:nvGraphicFramePr>
          <p:cNvPr id="3" name="chart-honest" descr=""/>
          <p:cNvGraphicFramePr/>
          <p:nvPr/>
        </p:nvGraphicFramePr>
        <p:xfrm>
          <a:off x="548640" y="128016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4" name="list-71"/>
          <p:cNvSpPr txBox="1"/>
          <p:nvPr/>
        </p:nvSpPr>
        <p:spPr>
          <a:xfrm>
            <a:off x="7498080" y="1371600"/>
            <a:ext cx="4160520" cy="4572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Predicting the whole night from bedtime alone was close to chance (0.55–0.63) on 1046 real nights, whatever the method</a:t>
            </a:r>
            <a:endParaRPr lang="en-US" sz="1500" dirty="0"/>
          </a:p>
          <a:p>
            <a:pPr marL="342900" indent="-342900">
              <a:spcAft>
                <a:spcPts val="600"/>
              </a:spcAft>
              <a:buSzPct val="100000"/>
              <a:buChar char="•"/>
            </a:pPr>
            <a:r>
              <a:rPr lang="en-US" sz="1500" dirty="0">
                <a:solidFill>
                  <a:schemeClr val="tx1"/>
                </a:solidFill>
              </a:rPr>
              <a:t>So the bedtime rehearsal is used to compare plans, not to promise a night is safe</a:t>
            </a:r>
            <a:endParaRPr lang="en-US" sz="1500" dirty="0"/>
          </a:p>
          <a:p>
            <a:pPr marL="342900" indent="-342900">
              <a:spcAft>
                <a:spcPts val="600"/>
              </a:spcAft>
              <a:buSzPct val="100000"/>
              <a:buChar char="•"/>
            </a:pPr>
            <a:r>
              <a:rPr lang="en-US" sz="1500" dirty="0">
                <a:solidFill>
                  <a:schemeClr val="tx1"/>
                </a:solidFill>
              </a:rPr>
              <a:t>Warnings rely on the in-night guard</a:t>
            </a:r>
            <a:endParaRPr lang="en-US" sz="1500" dirty="0"/>
          </a:p>
          <a:p>
            <a:pPr marL="342900" indent="-342900">
              <a:spcAft>
                <a:spcPts val="600"/>
              </a:spcAft>
              <a:buSzPct val="100000"/>
              <a:buChar char="•"/>
            </a:pPr>
            <a:r>
              <a:rPr lang="en-US" sz="1500" dirty="0">
                <a:solidFill>
                  <a:schemeClr val="tx1"/>
                </a:solidFill>
              </a:rPr>
              <a:t>Insulin, meal, step and heart-rate features add only ~0.01 AUROC over glucose alone in these datasets</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No CGM for everyone? Give it to the children who need it most</a:t>
            </a:r>
            <a:endParaRPr lang="en-US" sz="3200" dirty="0"/>
          </a:p>
        </p:txBody>
      </p:sp>
      <p:graphicFrame>
        <p:nvGraphicFramePr>
          <p:cNvPr id="3" name="chart-sensor" descr=""/>
          <p:cNvGraphicFramePr/>
          <p:nvPr/>
        </p:nvGraphicFramePr>
        <p:xfrm>
          <a:off x="548640" y="128016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4" name="text-72"/>
          <p:cNvSpPr txBox="1"/>
          <p:nvPr/>
        </p:nvSpPr>
        <p:spPr>
          <a:xfrm>
            <a:off x="7040880" y="1371600"/>
            <a:ext cx="2194560" cy="868680"/>
          </a:xfrm>
          <a:prstGeom prst="rect">
            <a:avLst/>
          </a:prstGeom>
          <a:noFill/>
          <a:ln/>
        </p:spPr>
        <p:txBody>
          <a:bodyPr wrap="square" lIns="0" tIns="0" rIns="0" bIns="0" rtlCol="0" anchor="t"/>
          <a:lstStyle/>
          <a:p>
            <a:pPr indent="0" marL="0">
              <a:buNone/>
            </a:pPr>
            <a:r>
              <a:rPr lang="en-US" sz="4800" b="1" dirty="0">
                <a:solidFill>
                  <a:schemeClr val="accent4"/>
                </a:solidFill>
                <a:latin typeface="Cambria" pitchFamily="34" charset="0"/>
                <a:ea typeface="Cambria" pitchFamily="34" charset="-122"/>
                <a:cs typeface="Cambria" pitchFamily="34" charset="-120"/>
              </a:rPr>
              <a:t>42%</a:t>
            </a:r>
            <a:endParaRPr lang="en-US" sz="4800" dirty="0"/>
          </a:p>
        </p:txBody>
      </p:sp>
      <p:sp>
        <p:nvSpPr>
          <p:cNvPr id="5" name="text-73"/>
          <p:cNvSpPr txBox="1"/>
          <p:nvPr/>
        </p:nvSpPr>
        <p:spPr>
          <a:xfrm>
            <a:off x="7040880" y="2240280"/>
            <a:ext cx="2194560" cy="685800"/>
          </a:xfrm>
          <a:prstGeom prst="rect">
            <a:avLst/>
          </a:prstGeom>
          <a:noFill/>
          <a:ln/>
        </p:spPr>
        <p:txBody>
          <a:bodyPr wrap="square" lIns="0" tIns="0" rIns="0" bIns="0" rtlCol="0" anchor="t"/>
          <a:lstStyle/>
          <a:p>
            <a:pPr indent="0" marL="0">
              <a:buNone/>
            </a:pPr>
            <a:r>
              <a:rPr lang="en-US" sz="1400" dirty="0">
                <a:solidFill>
                  <a:schemeClr val="tx2"/>
                </a:solidFill>
              </a:rPr>
              <a:t>of later nights had a low: top third by week-1 risk</a:t>
            </a:r>
            <a:endParaRPr lang="en-US" sz="1400" dirty="0"/>
          </a:p>
        </p:txBody>
      </p:sp>
      <p:sp>
        <p:nvSpPr>
          <p:cNvPr id="6" name="text-74"/>
          <p:cNvSpPr txBox="1"/>
          <p:nvPr/>
        </p:nvSpPr>
        <p:spPr>
          <a:xfrm>
            <a:off x="9418320" y="1371600"/>
            <a:ext cx="219456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10%</a:t>
            </a:r>
            <a:endParaRPr lang="en-US" sz="4800" dirty="0"/>
          </a:p>
        </p:txBody>
      </p:sp>
      <p:sp>
        <p:nvSpPr>
          <p:cNvPr id="7" name="text-75"/>
          <p:cNvSpPr txBox="1"/>
          <p:nvPr/>
        </p:nvSpPr>
        <p:spPr>
          <a:xfrm>
            <a:off x="9418320" y="2240280"/>
            <a:ext cx="2194560" cy="685800"/>
          </a:xfrm>
          <a:prstGeom prst="rect">
            <a:avLst/>
          </a:prstGeom>
          <a:noFill/>
          <a:ln/>
        </p:spPr>
        <p:txBody>
          <a:bodyPr wrap="square" lIns="0" tIns="0" rIns="0" bIns="0" rtlCol="0" anchor="t"/>
          <a:lstStyle/>
          <a:p>
            <a:pPr indent="0" marL="0">
              <a:buNone/>
            </a:pPr>
            <a:r>
              <a:rPr lang="en-US" sz="1400" dirty="0">
                <a:solidFill>
                  <a:schemeClr val="tx2"/>
                </a:solidFill>
              </a:rPr>
              <a:t>bottom third</a:t>
            </a:r>
            <a:endParaRPr lang="en-US" sz="1400" dirty="0"/>
          </a:p>
        </p:txBody>
      </p:sp>
      <p:sp>
        <p:nvSpPr>
          <p:cNvPr id="8" name="text-76"/>
          <p:cNvSpPr txBox="1"/>
          <p:nvPr/>
        </p:nvSpPr>
        <p:spPr>
          <a:xfrm>
            <a:off x="7040880" y="3291840"/>
            <a:ext cx="4572000" cy="2377440"/>
          </a:xfrm>
          <a:prstGeom prst="rect">
            <a:avLst/>
          </a:prstGeom>
          <a:noFill/>
          <a:ln/>
        </p:spPr>
        <p:txBody>
          <a:bodyPr wrap="square" lIns="0" tIns="0" rIns="0" bIns="0" rtlCol="0" anchor="t"/>
          <a:lstStyle/>
          <a:p>
            <a:pPr indent="0" marL="0">
              <a:buNone/>
            </a:pPr>
            <a:r>
              <a:rPr lang="en-US" sz="1600" dirty="0">
                <a:solidFill>
                  <a:schemeClr val="tx2"/>
                </a:solidFill>
              </a:rPr>
              <a:t>Spearman 0.63. One ₹4–5k trial sensor per child, instead of ₹1.1 lakh a year for everyone, points a state programme's scarce CGMs at the children most at risk. The Sensor Priority screen does exactly this.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doctor's dashboard</a:t>
            </a:r>
            <a:endParaRPr lang="en-US" sz="3200" dirty="0"/>
          </a:p>
        </p:txBody>
      </p:sp>
      <p:pic>
        <p:nvPicPr>
          <p:cNvPr id="3" name="image-77" descr="Tonight Board ranking children by risk">    </p:cNvPr>
          <p:cNvPicPr>
            <a:picLocks noChangeAspect="1"/>
          </p:cNvPicPr>
          <p:nvPr/>
        </p:nvPicPr>
        <p:blipFill>
          <a:blip r:embed="rId1"/>
          <a:stretch>
            <a:fillRect/>
          </a:stretch>
        </p:blipFill>
        <p:spPr>
          <a:xfrm>
            <a:off x="548640" y="1234440"/>
            <a:ext cx="6400800" cy="4000500"/>
          </a:xfrm>
          <a:prstGeom prst="rect">
            <a:avLst/>
          </a:prstGeom>
        </p:spPr>
      </p:pic>
      <p:sp>
        <p:nvSpPr>
          <p:cNvPr id="4" name="list-78"/>
          <p:cNvSpPr txBox="1"/>
          <p:nvPr/>
        </p:nvSpPr>
        <p:spPr>
          <a:xfrm>
            <a:off x="7223760" y="1325880"/>
            <a:ext cx="4434840" cy="4389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Tonight Board at 9 PM: every child ranked by risk; call the red rows</a:t>
            </a:r>
            <a:endParaRPr lang="en-US" sz="1600" dirty="0"/>
          </a:p>
          <a:p>
            <a:pPr marL="342900" indent="-342900">
              <a:spcAft>
                <a:spcPts val="600"/>
              </a:spcAft>
              <a:buSzPct val="100000"/>
              <a:buChar char="•"/>
            </a:pPr>
            <a:r>
              <a:rPr lang="en-US" sz="1600" dirty="0">
                <a:solidFill>
                  <a:schemeClr val="tx1"/>
                </a:solidFill>
              </a:rPr>
              <a:t>Twin view: rehearsed night, why it is risky, FHIR record, 14-day time in range</a:t>
            </a:r>
            <a:endParaRPr lang="en-US" sz="1600" dirty="0"/>
          </a:p>
          <a:p>
            <a:pPr marL="342900" indent="-342900">
              <a:spcAft>
                <a:spcPts val="600"/>
              </a:spcAft>
              <a:buSzPct val="100000"/>
              <a:buChar char="•"/>
            </a:pPr>
            <a:r>
              <a:rPr lang="en-US" sz="1600" dirty="0">
                <a:solidFill>
                  <a:schemeClr val="tx1"/>
                </a:solidFill>
              </a:rPr>
              <a:t>Rehearse, approve, send to family</a:t>
            </a:r>
            <a:endParaRPr lang="en-US" sz="1600" dirty="0"/>
          </a:p>
          <a:p>
            <a:pPr marL="342900" indent="-342900">
              <a:spcAft>
                <a:spcPts val="600"/>
              </a:spcAft>
              <a:buSzPct val="100000"/>
              <a:buChar char="•"/>
            </a:pPr>
            <a:r>
              <a:rPr lang="en-US" sz="1600" dirty="0">
                <a:solidFill>
                  <a:schemeClr val="tx1"/>
                </a:solidFill>
              </a:rPr>
              <a:t>Night guard replay</a:t>
            </a:r>
            <a:endParaRPr lang="en-US" sz="1600" dirty="0"/>
          </a:p>
          <a:p>
            <a:pPr marL="342900" indent="-342900">
              <a:spcAft>
                <a:spcPts val="600"/>
              </a:spcAft>
              <a:buSzPct val="100000"/>
              <a:buChar char="•"/>
            </a:pPr>
            <a:r>
              <a:rPr lang="en-US" sz="1600" dirty="0">
                <a:solidFill>
                  <a:schemeClr val="tx1"/>
                </a:solidFill>
              </a:rPr>
              <a:t>Sensor Priority and Evidence pages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Built for Indian families and clinics</a:t>
            </a:r>
            <a:endParaRPr lang="en-US" sz="3200" dirty="0"/>
          </a:p>
        </p:txBody>
      </p:sp>
      <p:pic>
        <p:nvPicPr>
          <p:cNvPr id="3" name="image-79" descr="Night guard replay with a Malayalam voice alert">    </p:cNvPr>
          <p:cNvPicPr>
            <a:picLocks noChangeAspect="1"/>
          </p:cNvPicPr>
          <p:nvPr/>
        </p:nvPicPr>
        <p:blipFill>
          <a:blip r:embed="rId1"/>
          <a:stretch>
            <a:fillRect/>
          </a:stretch>
        </p:blipFill>
        <p:spPr>
          <a:xfrm>
            <a:off x="548640" y="1234440"/>
            <a:ext cx="6583680" cy="5023104"/>
          </a:xfrm>
          <a:prstGeom prst="rect">
            <a:avLst/>
          </a:prstGeom>
        </p:spPr>
      </p:pic>
      <p:sp>
        <p:nvSpPr>
          <p:cNvPr id="4" name="badge-80"/>
          <p:cNvSpPr/>
          <p:nvPr/>
        </p:nvSpPr>
        <p:spPr>
          <a:xfrm>
            <a:off x="7498080" y="1325880"/>
            <a:ext cx="411480" cy="411480"/>
          </a:xfrm>
          <a:prstGeom prst="ellipse">
            <a:avLst/>
          </a:prstGeom>
          <a:solidFill>
            <a:schemeClr val="accent1"/>
          </a:solidFill>
          <a:ln w="12700">
            <a:solidFill>
              <a:schemeClr val="accent1"/>
            </a:solidFill>
            <a:prstDash val="solid"/>
          </a:ln>
        </p:spPr>
      </p:sp>
      <p:sp>
        <p:nvSpPr>
          <p:cNvPr id="5" name="badge-label-81"/>
          <p:cNvSpPr txBox="1"/>
          <p:nvPr/>
        </p:nvSpPr>
        <p:spPr>
          <a:xfrm>
            <a:off x="749808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82"/>
          <p:cNvSpPr txBox="1"/>
          <p:nvPr/>
        </p:nvSpPr>
        <p:spPr>
          <a:xfrm>
            <a:off x="8092440" y="1280160"/>
            <a:ext cx="3566160" cy="365760"/>
          </a:xfrm>
          <a:prstGeom prst="rect">
            <a:avLst/>
          </a:prstGeom>
          <a:noFill/>
          <a:ln/>
        </p:spPr>
        <p:txBody>
          <a:bodyPr wrap="square" lIns="0" tIns="0" rIns="0" bIns="0" rtlCol="0" anchor="t"/>
          <a:lstStyle/>
          <a:p>
            <a:pPr indent="0" marL="0">
              <a:buNone/>
            </a:pPr>
            <a:r>
              <a:rPr lang="en-US" sz="1700" b="1" dirty="0">
                <a:solidFill>
                  <a:schemeClr val="tx1"/>
                </a:solidFill>
              </a:rPr>
              <a:t>Language</a:t>
            </a:r>
            <a:endParaRPr lang="en-US" sz="1700" dirty="0"/>
          </a:p>
        </p:txBody>
      </p:sp>
      <p:sp>
        <p:nvSpPr>
          <p:cNvPr id="7" name="text-83"/>
          <p:cNvSpPr txBox="1"/>
          <p:nvPr/>
        </p:nvSpPr>
        <p:spPr>
          <a:xfrm>
            <a:off x="8092440" y="1664208"/>
            <a:ext cx="3566160" cy="731520"/>
          </a:xfrm>
          <a:prstGeom prst="rect">
            <a:avLst/>
          </a:prstGeom>
          <a:noFill/>
          <a:ln/>
        </p:spPr>
        <p:txBody>
          <a:bodyPr wrap="square" lIns="0" tIns="0" rIns="0" bIns="0" rtlCol="0" anchor="t"/>
          <a:lstStyle/>
          <a:p>
            <a:pPr indent="0" marL="0">
              <a:buNone/>
            </a:pPr>
            <a:r>
              <a:rPr lang="en-US" sz="1400" dirty="0">
                <a:solidFill>
                  <a:schemeClr val="tx2"/>
                </a:solidFill>
              </a:rPr>
              <a:t>Alerts in Kannada, Hindi, Malayalam… by voice call that works on feature phones</a:t>
            </a:r>
            <a:endParaRPr lang="en-US" sz="1400" dirty="0"/>
          </a:p>
        </p:txBody>
      </p:sp>
      <p:sp>
        <p:nvSpPr>
          <p:cNvPr id="8" name="badge-84"/>
          <p:cNvSpPr/>
          <p:nvPr/>
        </p:nvSpPr>
        <p:spPr>
          <a:xfrm>
            <a:off x="7498080" y="2514600"/>
            <a:ext cx="411480" cy="411480"/>
          </a:xfrm>
          <a:prstGeom prst="ellipse">
            <a:avLst/>
          </a:prstGeom>
          <a:solidFill>
            <a:schemeClr val="accent1"/>
          </a:solidFill>
          <a:ln w="12700">
            <a:solidFill>
              <a:schemeClr val="accent1"/>
            </a:solidFill>
            <a:prstDash val="solid"/>
          </a:ln>
        </p:spPr>
      </p:sp>
      <p:sp>
        <p:nvSpPr>
          <p:cNvPr id="9" name="badge-label-85"/>
          <p:cNvSpPr txBox="1"/>
          <p:nvPr/>
        </p:nvSpPr>
        <p:spPr>
          <a:xfrm>
            <a:off x="7498080" y="25146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86"/>
          <p:cNvSpPr txBox="1"/>
          <p:nvPr/>
        </p:nvSpPr>
        <p:spPr>
          <a:xfrm>
            <a:off x="8092440" y="2468880"/>
            <a:ext cx="3566160" cy="365760"/>
          </a:xfrm>
          <a:prstGeom prst="rect">
            <a:avLst/>
          </a:prstGeom>
          <a:noFill/>
          <a:ln/>
        </p:spPr>
        <p:txBody>
          <a:bodyPr wrap="square" lIns="0" tIns="0" rIns="0" bIns="0" rtlCol="0" anchor="t"/>
          <a:lstStyle/>
          <a:p>
            <a:pPr indent="0" marL="0">
              <a:buNone/>
            </a:pPr>
            <a:r>
              <a:rPr lang="en-US" sz="1700" b="1" dirty="0">
                <a:solidFill>
                  <a:schemeClr val="tx1"/>
                </a:solidFill>
              </a:rPr>
              <a:t>Insulin reality</a:t>
            </a:r>
            <a:endParaRPr lang="en-US" sz="1700" dirty="0"/>
          </a:p>
        </p:txBody>
      </p:sp>
      <p:sp>
        <p:nvSpPr>
          <p:cNvPr id="11" name="text-87"/>
          <p:cNvSpPr txBox="1"/>
          <p:nvPr/>
        </p:nvSpPr>
        <p:spPr>
          <a:xfrm>
            <a:off x="8092440" y="2852928"/>
            <a:ext cx="3566160" cy="731520"/>
          </a:xfrm>
          <a:prstGeom prst="rect">
            <a:avLst/>
          </a:prstGeom>
          <a:noFill/>
          <a:ln/>
        </p:spPr>
        <p:txBody>
          <a:bodyPr wrap="square" lIns="0" tIns="0" rIns="0" bIns="0" rtlCol="0" anchor="t"/>
          <a:lstStyle/>
          <a:p>
            <a:pPr indent="0" marL="0">
              <a:buNone/>
            </a:pPr>
            <a:r>
              <a:rPr lang="en-US" sz="1400" dirty="0">
                <a:solidFill>
                  <a:schemeClr val="tx2"/>
                </a:solidFill>
              </a:rPr>
              <a:t>Models human NPH/Regular and premixed insulin, not only analogues</a:t>
            </a:r>
            <a:endParaRPr lang="en-US" sz="1400" dirty="0"/>
          </a:p>
        </p:txBody>
      </p:sp>
      <p:sp>
        <p:nvSpPr>
          <p:cNvPr id="12" name="badge-88"/>
          <p:cNvSpPr/>
          <p:nvPr/>
        </p:nvSpPr>
        <p:spPr>
          <a:xfrm>
            <a:off x="7498080" y="3703320"/>
            <a:ext cx="411480" cy="411480"/>
          </a:xfrm>
          <a:prstGeom prst="ellipse">
            <a:avLst/>
          </a:prstGeom>
          <a:solidFill>
            <a:schemeClr val="accent1"/>
          </a:solidFill>
          <a:ln w="12700">
            <a:solidFill>
              <a:schemeClr val="accent1"/>
            </a:solidFill>
            <a:prstDash val="solid"/>
          </a:ln>
        </p:spPr>
      </p:sp>
      <p:sp>
        <p:nvSpPr>
          <p:cNvPr id="13" name="badge-label-89"/>
          <p:cNvSpPr txBox="1"/>
          <p:nvPr/>
        </p:nvSpPr>
        <p:spPr>
          <a:xfrm>
            <a:off x="7498080" y="37033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90"/>
          <p:cNvSpPr txBox="1"/>
          <p:nvPr/>
        </p:nvSpPr>
        <p:spPr>
          <a:xfrm>
            <a:off x="8092440" y="3657600"/>
            <a:ext cx="3566160" cy="365760"/>
          </a:xfrm>
          <a:prstGeom prst="rect">
            <a:avLst/>
          </a:prstGeom>
          <a:noFill/>
          <a:ln/>
        </p:spPr>
        <p:txBody>
          <a:bodyPr wrap="square" lIns="0" tIns="0" rIns="0" bIns="0" rtlCol="0" anchor="t"/>
          <a:lstStyle/>
          <a:p>
            <a:pPr indent="0" marL="0">
              <a:buNone/>
            </a:pPr>
            <a:r>
              <a:rPr lang="en-US" sz="1700" b="1" dirty="0">
                <a:solidFill>
                  <a:schemeClr val="tx1"/>
                </a:solidFill>
              </a:rPr>
              <a:t>Routines</a:t>
            </a:r>
            <a:endParaRPr lang="en-US" sz="1700" dirty="0"/>
          </a:p>
        </p:txBody>
      </p:sp>
      <p:sp>
        <p:nvSpPr>
          <p:cNvPr id="15" name="text-91"/>
          <p:cNvSpPr txBox="1"/>
          <p:nvPr/>
        </p:nvSpPr>
        <p:spPr>
          <a:xfrm>
            <a:off x="8092440" y="4041648"/>
            <a:ext cx="3566160" cy="731520"/>
          </a:xfrm>
          <a:prstGeom prst="rect">
            <a:avLst/>
          </a:prstGeom>
          <a:noFill/>
          <a:ln/>
        </p:spPr>
        <p:txBody>
          <a:bodyPr wrap="square" lIns="0" tIns="0" rIns="0" bIns="0" rtlCol="0" anchor="t"/>
          <a:lstStyle/>
          <a:p>
            <a:pPr indent="0" marL="0">
              <a:buNone/>
            </a:pPr>
            <a:r>
              <a:rPr lang="en-US" sz="1400" dirty="0">
                <a:solidFill>
                  <a:schemeClr val="tx2"/>
                </a:solidFill>
              </a:rPr>
              <a:t>Late dinners, evening cricket, school tiffin</a:t>
            </a:r>
            <a:endParaRPr lang="en-US" sz="1400" dirty="0"/>
          </a:p>
        </p:txBody>
      </p:sp>
      <p:sp>
        <p:nvSpPr>
          <p:cNvPr id="16" name="badge-92"/>
          <p:cNvSpPr/>
          <p:nvPr/>
        </p:nvSpPr>
        <p:spPr>
          <a:xfrm>
            <a:off x="7498080" y="4892040"/>
            <a:ext cx="411480" cy="411480"/>
          </a:xfrm>
          <a:prstGeom prst="ellipse">
            <a:avLst/>
          </a:prstGeom>
          <a:solidFill>
            <a:schemeClr val="accent1"/>
          </a:solidFill>
          <a:ln w="12700">
            <a:solidFill>
              <a:schemeClr val="accent1"/>
            </a:solidFill>
            <a:prstDash val="solid"/>
          </a:ln>
        </p:spPr>
      </p:sp>
      <p:sp>
        <p:nvSpPr>
          <p:cNvPr id="17" name="badge-label-93"/>
          <p:cNvSpPr txBox="1"/>
          <p:nvPr/>
        </p:nvSpPr>
        <p:spPr>
          <a:xfrm>
            <a:off x="7498080" y="4892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94"/>
          <p:cNvSpPr txBox="1"/>
          <p:nvPr/>
        </p:nvSpPr>
        <p:spPr>
          <a:xfrm>
            <a:off x="8092440" y="4846320"/>
            <a:ext cx="3566160" cy="365760"/>
          </a:xfrm>
          <a:prstGeom prst="rect">
            <a:avLst/>
          </a:prstGeom>
          <a:noFill/>
          <a:ln/>
        </p:spPr>
        <p:txBody>
          <a:bodyPr wrap="square" lIns="0" tIns="0" rIns="0" bIns="0" rtlCol="0" anchor="t"/>
          <a:lstStyle/>
          <a:p>
            <a:pPr indent="0" marL="0">
              <a:buNone/>
            </a:pPr>
            <a:r>
              <a:rPr lang="en-US" sz="1700" b="1" dirty="0">
                <a:solidFill>
                  <a:schemeClr val="tx1"/>
                </a:solidFill>
              </a:rPr>
              <a:t>ABDM-ready</a:t>
            </a:r>
            <a:endParaRPr lang="en-US" sz="1700" dirty="0"/>
          </a:p>
        </p:txBody>
      </p:sp>
      <p:sp>
        <p:nvSpPr>
          <p:cNvPr id="19" name="text-95"/>
          <p:cNvSpPr txBox="1"/>
          <p:nvPr/>
        </p:nvSpPr>
        <p:spPr>
          <a:xfrm>
            <a:off x="8092440" y="5230368"/>
            <a:ext cx="3566160" cy="731520"/>
          </a:xfrm>
          <a:prstGeom prst="rect">
            <a:avLst/>
          </a:prstGeom>
          <a:noFill/>
          <a:ln/>
        </p:spPr>
        <p:txBody>
          <a:bodyPr wrap="square" lIns="0" tIns="0" rIns="0" bIns="0" rtlCol="0" anchor="t"/>
          <a:lstStyle/>
          <a:p>
            <a:pPr indent="0" marL="0">
              <a:buNone/>
            </a:pPr>
            <a:r>
              <a:rPr lang="en-US" sz="1400" dirty="0">
                <a:solidFill>
                  <a:schemeClr val="tx2"/>
                </a:solidFill>
              </a:rPr>
              <a:t>FHIR R4 records with room for ABHA linkage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Privacy, safety and regulation</a:t>
            </a:r>
            <a:endParaRPr lang="en-US" sz="3200" dirty="0"/>
          </a:p>
        </p:txBody>
      </p:sp>
      <p:sp>
        <p:nvSpPr>
          <p:cNvPr id="3" name="card-96"/>
          <p:cNvSpPr/>
          <p:nvPr/>
        </p:nvSpPr>
        <p:spPr>
          <a:xfrm>
            <a:off x="548640" y="1463040"/>
            <a:ext cx="3474720" cy="4297680"/>
          </a:xfrm>
          <a:prstGeom prst="roundRect">
            <a:avLst>
              <a:gd name="adj" fmla="val 3158"/>
            </a:avLst>
          </a:prstGeom>
          <a:solidFill>
            <a:schemeClr val="bg2"/>
          </a:solidFill>
          <a:ln w="12700">
            <a:solidFill>
              <a:schemeClr val="bg2"/>
            </a:solidFill>
            <a:prstDash val="solid"/>
          </a:ln>
        </p:spPr>
      </p:sp>
      <p:sp>
        <p:nvSpPr>
          <p:cNvPr id="4" name="badge-97"/>
          <p:cNvSpPr/>
          <p:nvPr/>
        </p:nvSpPr>
        <p:spPr>
          <a:xfrm>
            <a:off x="822960" y="1737360"/>
            <a:ext cx="548640" cy="548640"/>
          </a:xfrm>
          <a:prstGeom prst="ellipse">
            <a:avLst/>
          </a:prstGeom>
          <a:solidFill>
            <a:schemeClr val="accent1"/>
          </a:solidFill>
          <a:ln w="12700">
            <a:solidFill>
              <a:schemeClr val="accent1"/>
            </a:solidFill>
            <a:prstDash val="solid"/>
          </a:ln>
        </p:spPr>
      </p:sp>
      <p:sp>
        <p:nvSpPr>
          <p:cNvPr id="5" name="badge-label-98"/>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99"/>
          <p:cNvSpPr txBox="1"/>
          <p:nvPr/>
        </p:nvSpPr>
        <p:spPr>
          <a:xfrm>
            <a:off x="822960" y="2514600"/>
            <a:ext cx="2926080" cy="731520"/>
          </a:xfrm>
          <a:prstGeom prst="rect">
            <a:avLst/>
          </a:prstGeom>
          <a:noFill/>
          <a:ln/>
        </p:spPr>
        <p:txBody>
          <a:bodyPr wrap="square" lIns="0" tIns="0" rIns="0" bIns="0" rtlCol="0" anchor="t"/>
          <a:lstStyle/>
          <a:p>
            <a:pPr indent="0" marL="0">
              <a:buNone/>
            </a:pPr>
            <a:r>
              <a:rPr lang="en-US" sz="1900" b="1" dirty="0">
                <a:solidFill>
                  <a:schemeClr val="tx1"/>
                </a:solidFill>
              </a:rPr>
              <a:t>Children's data (DPDP Act 2023)</a:t>
            </a:r>
            <a:endParaRPr lang="en-US" sz="1900" dirty="0"/>
          </a:p>
        </p:txBody>
      </p:sp>
      <p:sp>
        <p:nvSpPr>
          <p:cNvPr id="7" name="text-100"/>
          <p:cNvSpPr txBox="1"/>
          <p:nvPr/>
        </p:nvSpPr>
        <p:spPr>
          <a:xfrm>
            <a:off x="822960" y="3291840"/>
            <a:ext cx="2926080" cy="2377440"/>
          </a:xfrm>
          <a:prstGeom prst="rect">
            <a:avLst/>
          </a:prstGeom>
          <a:noFill/>
          <a:ln/>
        </p:spPr>
        <p:txBody>
          <a:bodyPr wrap="square" lIns="0" tIns="0" rIns="0" bIns="0" rtlCol="0" anchor="t"/>
          <a:lstStyle/>
          <a:p>
            <a:pPr indent="0" marL="0">
              <a:buNone/>
            </a:pPr>
            <a:r>
              <a:rPr lang="en-US" sz="1400" dirty="0">
                <a:solidFill>
                  <a:schemeClr val="tx2"/>
                </a:solidFill>
              </a:rPr>
              <a:t>Section 9: verifiable parental consent; no tracking or behavioural monitoring of children. The DPDP Rules 2025 (Fourth Schedule) exempt clinics and healthcare professionals for health services to the child, so NightTwin is deployed by the clinic as data fiduciary, with consent recorded anyway.</a:t>
            </a:r>
            <a:endParaRPr lang="en-US" sz="1400" dirty="0"/>
          </a:p>
        </p:txBody>
      </p:sp>
      <p:sp>
        <p:nvSpPr>
          <p:cNvPr id="8" name="card-101"/>
          <p:cNvSpPr/>
          <p:nvPr/>
        </p:nvSpPr>
        <p:spPr>
          <a:xfrm>
            <a:off x="4297680" y="1463040"/>
            <a:ext cx="3474720" cy="4297680"/>
          </a:xfrm>
          <a:prstGeom prst="roundRect">
            <a:avLst>
              <a:gd name="adj" fmla="val 3158"/>
            </a:avLst>
          </a:prstGeom>
          <a:solidFill>
            <a:schemeClr val="bg2"/>
          </a:solidFill>
          <a:ln w="12700">
            <a:solidFill>
              <a:schemeClr val="bg2"/>
            </a:solidFill>
            <a:prstDash val="solid"/>
          </a:ln>
        </p:spPr>
      </p:sp>
      <p:sp>
        <p:nvSpPr>
          <p:cNvPr id="9" name="badge-102"/>
          <p:cNvSpPr/>
          <p:nvPr/>
        </p:nvSpPr>
        <p:spPr>
          <a:xfrm>
            <a:off x="4572000" y="1737360"/>
            <a:ext cx="548640" cy="548640"/>
          </a:xfrm>
          <a:prstGeom prst="ellipse">
            <a:avLst/>
          </a:prstGeom>
          <a:solidFill>
            <a:schemeClr val="accent3"/>
          </a:solidFill>
          <a:ln w="12700">
            <a:solidFill>
              <a:schemeClr val="accent3"/>
            </a:solidFill>
            <a:prstDash val="solid"/>
          </a:ln>
        </p:spPr>
      </p:sp>
      <p:sp>
        <p:nvSpPr>
          <p:cNvPr id="10" name="badge-label-103"/>
          <p:cNvSpPr txBox="1"/>
          <p:nvPr/>
        </p:nvSpPr>
        <p:spPr>
          <a:xfrm>
            <a:off x="4572000" y="1737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104"/>
          <p:cNvSpPr txBox="1"/>
          <p:nvPr/>
        </p:nvSpPr>
        <p:spPr>
          <a:xfrm>
            <a:off x="4572000" y="2514600"/>
            <a:ext cx="2926080" cy="731520"/>
          </a:xfrm>
          <a:prstGeom prst="rect">
            <a:avLst/>
          </a:prstGeom>
          <a:noFill/>
          <a:ln/>
        </p:spPr>
        <p:txBody>
          <a:bodyPr wrap="square" lIns="0" tIns="0" rIns="0" bIns="0" rtlCol="0" anchor="t"/>
          <a:lstStyle/>
          <a:p>
            <a:pPr indent="0" marL="0">
              <a:buNone/>
            </a:pPr>
            <a:r>
              <a:rPr lang="en-US" sz="1900" b="1" dirty="0">
                <a:solidFill>
                  <a:schemeClr val="tx1"/>
                </a:solidFill>
              </a:rPr>
              <a:t>Doctor in the loop</a:t>
            </a:r>
            <a:endParaRPr lang="en-US" sz="1900" dirty="0"/>
          </a:p>
        </p:txBody>
      </p:sp>
      <p:sp>
        <p:nvSpPr>
          <p:cNvPr id="12" name="text-105"/>
          <p:cNvSpPr txBox="1"/>
          <p:nvPr/>
        </p:nvSpPr>
        <p:spPr>
          <a:xfrm>
            <a:off x="4572000" y="3291840"/>
            <a:ext cx="2926080" cy="2377440"/>
          </a:xfrm>
          <a:prstGeom prst="rect">
            <a:avLst/>
          </a:prstGeom>
          <a:noFill/>
          <a:ln/>
        </p:spPr>
        <p:txBody>
          <a:bodyPr wrap="square" lIns="0" tIns="0" rIns="0" bIns="0" rtlCol="0" anchor="t"/>
          <a:lstStyle/>
          <a:p>
            <a:pPr indent="0" marL="0">
              <a:buNone/>
            </a:pPr>
            <a:r>
              <a:rPr lang="en-US" sz="1400" dirty="0">
                <a:solidFill>
                  <a:schemeClr val="tx2"/>
                </a:solidFill>
              </a:rPr>
              <a:t>The twin only shows simulated outcomes. The doctor approves every change; families receive only approved actions. No advertising or analytics on children's data.</a:t>
            </a:r>
            <a:endParaRPr lang="en-US" sz="1400" dirty="0"/>
          </a:p>
        </p:txBody>
      </p:sp>
      <p:sp>
        <p:nvSpPr>
          <p:cNvPr id="13" name="card-106"/>
          <p:cNvSpPr/>
          <p:nvPr/>
        </p:nvSpPr>
        <p:spPr>
          <a:xfrm>
            <a:off x="8046720" y="1463040"/>
            <a:ext cx="3474720" cy="4297680"/>
          </a:xfrm>
          <a:prstGeom prst="roundRect">
            <a:avLst>
              <a:gd name="adj" fmla="val 3158"/>
            </a:avLst>
          </a:prstGeom>
          <a:solidFill>
            <a:schemeClr val="bg2"/>
          </a:solidFill>
          <a:ln w="12700">
            <a:solidFill>
              <a:schemeClr val="bg2"/>
            </a:solidFill>
            <a:prstDash val="solid"/>
          </a:ln>
        </p:spPr>
      </p:sp>
      <p:sp>
        <p:nvSpPr>
          <p:cNvPr id="14" name="badge-107"/>
          <p:cNvSpPr/>
          <p:nvPr/>
        </p:nvSpPr>
        <p:spPr>
          <a:xfrm>
            <a:off x="8321040" y="1737360"/>
            <a:ext cx="548640" cy="548640"/>
          </a:xfrm>
          <a:prstGeom prst="ellipse">
            <a:avLst/>
          </a:prstGeom>
          <a:solidFill>
            <a:schemeClr val="accent2"/>
          </a:solidFill>
          <a:ln w="12700">
            <a:solidFill>
              <a:schemeClr val="accent2"/>
            </a:solidFill>
            <a:prstDash val="solid"/>
          </a:ln>
        </p:spPr>
      </p:sp>
      <p:sp>
        <p:nvSpPr>
          <p:cNvPr id="15" name="badge-label-108"/>
          <p:cNvSpPr txBox="1"/>
          <p:nvPr/>
        </p:nvSpPr>
        <p:spPr>
          <a:xfrm>
            <a:off x="8321040" y="1737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text-109"/>
          <p:cNvSpPr txBox="1"/>
          <p:nvPr/>
        </p:nvSpPr>
        <p:spPr>
          <a:xfrm>
            <a:off x="8321040" y="2514600"/>
            <a:ext cx="2926080" cy="731520"/>
          </a:xfrm>
          <a:prstGeom prst="rect">
            <a:avLst/>
          </a:prstGeom>
          <a:noFill/>
          <a:ln/>
        </p:spPr>
        <p:txBody>
          <a:bodyPr wrap="square" lIns="0" tIns="0" rIns="0" bIns="0" rtlCol="0" anchor="t"/>
          <a:lstStyle/>
          <a:p>
            <a:pPr indent="0" marL="0">
              <a:buNone/>
            </a:pPr>
            <a:r>
              <a:rPr lang="en-US" sz="1900" b="1" dirty="0">
                <a:solidFill>
                  <a:schemeClr val="tx1"/>
                </a:solidFill>
              </a:rPr>
              <a:t>Path to the clinic</a:t>
            </a:r>
            <a:endParaRPr lang="en-US" sz="1900" dirty="0"/>
          </a:p>
        </p:txBody>
      </p:sp>
      <p:sp>
        <p:nvSpPr>
          <p:cNvPr id="17" name="text-110"/>
          <p:cNvSpPr txBox="1"/>
          <p:nvPr/>
        </p:nvSpPr>
        <p:spPr>
          <a:xfrm>
            <a:off x="8321040" y="3291840"/>
            <a:ext cx="2926080" cy="2377440"/>
          </a:xfrm>
          <a:prstGeom prst="rect">
            <a:avLst/>
          </a:prstGeom>
          <a:noFill/>
          <a:ln/>
        </p:spPr>
        <p:txBody>
          <a:bodyPr wrap="square" lIns="0" tIns="0" rIns="0" bIns="0" rtlCol="0" anchor="t"/>
          <a:lstStyle/>
          <a:p>
            <a:pPr indent="0" marL="0">
              <a:buNone/>
            </a:pPr>
            <a:r>
              <a:rPr lang="en-US" sz="1400" dirty="0">
                <a:solidFill>
                  <a:schemeClr val="tx2"/>
                </a:solidFill>
              </a:rPr>
              <a:t>Decision support, not a diagnosis. A real deployment would follow CDSCO's medical device software pathway after a supervised clinical pilot.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Impact and how it scales</a:t>
            </a:r>
            <a:endParaRPr lang="en-US" sz="3200" dirty="0"/>
          </a:p>
        </p:txBody>
      </p:sp>
      <p:sp>
        <p:nvSpPr>
          <p:cNvPr id="3" name="text-111"/>
          <p:cNvSpPr txBox="1"/>
          <p:nvPr/>
        </p:nvSpPr>
        <p:spPr>
          <a:xfrm>
            <a:off x="548640" y="1371600"/>
            <a:ext cx="347472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~1 hour</a:t>
            </a:r>
            <a:endParaRPr lang="en-US" sz="4800" dirty="0"/>
          </a:p>
        </p:txBody>
      </p:sp>
      <p:sp>
        <p:nvSpPr>
          <p:cNvPr id="4" name="text-112"/>
          <p:cNvSpPr txBox="1"/>
          <p:nvPr/>
        </p:nvSpPr>
        <p:spPr>
          <a:xfrm>
            <a:off x="548640" y="2240280"/>
            <a:ext cx="3474720" cy="685800"/>
          </a:xfrm>
          <a:prstGeom prst="rect">
            <a:avLst/>
          </a:prstGeom>
          <a:noFill/>
          <a:ln/>
        </p:spPr>
        <p:txBody>
          <a:bodyPr wrap="square" lIns="0" tIns="0" rIns="0" bIns="0" rtlCol="0" anchor="t"/>
          <a:lstStyle/>
          <a:p>
            <a:pPr indent="0" marL="0">
              <a:buNone/>
            </a:pPr>
            <a:r>
              <a:rPr lang="en-US" sz="1400" dirty="0">
                <a:solidFill>
                  <a:schemeClr val="tx2"/>
                </a:solidFill>
              </a:rPr>
              <a:t>of warning before a night-time low for CGM families, as a voice call</a:t>
            </a:r>
            <a:endParaRPr lang="en-US" sz="1400" dirty="0"/>
          </a:p>
        </p:txBody>
      </p:sp>
      <p:sp>
        <p:nvSpPr>
          <p:cNvPr id="5" name="text-113"/>
          <p:cNvSpPr txBox="1"/>
          <p:nvPr/>
        </p:nvSpPr>
        <p:spPr>
          <a:xfrm>
            <a:off x="4343400" y="1371600"/>
            <a:ext cx="34747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4.3×</a:t>
            </a:r>
            <a:endParaRPr lang="en-US" sz="4800" dirty="0"/>
          </a:p>
        </p:txBody>
      </p:sp>
      <p:sp>
        <p:nvSpPr>
          <p:cNvPr id="6" name="text-114"/>
          <p:cNvSpPr txBox="1"/>
          <p:nvPr/>
        </p:nvSpPr>
        <p:spPr>
          <a:xfrm>
            <a:off x="4343400" y="2240280"/>
            <a:ext cx="3474720" cy="685800"/>
          </a:xfrm>
          <a:prstGeom prst="rect">
            <a:avLst/>
          </a:prstGeom>
          <a:noFill/>
          <a:ln/>
        </p:spPr>
        <p:txBody>
          <a:bodyPr wrap="square" lIns="0" tIns="0" rIns="0" bIns="0" rtlCol="0" anchor="t"/>
          <a:lstStyle/>
          <a:p>
            <a:pPr indent="0" marL="0">
              <a:buNone/>
            </a:pPr>
            <a:r>
              <a:rPr lang="en-US" sz="1400" dirty="0">
                <a:solidFill>
                  <a:schemeClr val="tx2"/>
                </a:solidFill>
              </a:rPr>
              <a:t>more night lows in the top third flagged by a trial sensor, so scarce CGMs go further</a:t>
            </a:r>
            <a:endParaRPr lang="en-US" sz="1400" dirty="0"/>
          </a:p>
        </p:txBody>
      </p:sp>
      <p:sp>
        <p:nvSpPr>
          <p:cNvPr id="7" name="text-115"/>
          <p:cNvSpPr txBox="1"/>
          <p:nvPr/>
        </p:nvSpPr>
        <p:spPr>
          <a:xfrm>
            <a:off x="8138160" y="1371600"/>
            <a:ext cx="347472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8" name="text-116"/>
          <p:cNvSpPr txBox="1"/>
          <p:nvPr/>
        </p:nvSpPr>
        <p:spPr>
          <a:xfrm>
            <a:off x="8138160" y="2240280"/>
            <a:ext cx="3474720" cy="685800"/>
          </a:xfrm>
          <a:prstGeom prst="rect">
            <a:avLst/>
          </a:prstGeom>
          <a:noFill/>
          <a:ln/>
        </p:spPr>
        <p:txBody>
          <a:bodyPr wrap="square" lIns="0" tIns="0" rIns="0" bIns="0" rtlCol="0" anchor="t"/>
          <a:lstStyle/>
          <a:p>
            <a:pPr indent="0" marL="0">
              <a:buNone/>
            </a:pPr>
            <a:r>
              <a:rPr lang="en-US" sz="1400" dirty="0">
                <a:solidFill>
                  <a:schemeClr val="tx2"/>
                </a:solidFill>
              </a:rPr>
              <a:t>licence cost: open source (Apache-2.0), deployable by state programmes and NGOs</a:t>
            </a:r>
            <a:endParaRPr lang="en-US" sz="1400" dirty="0"/>
          </a:p>
        </p:txBody>
      </p:sp>
      <p:sp>
        <p:nvSpPr>
          <p:cNvPr id="9" name="card-117"/>
          <p:cNvSpPr/>
          <p:nvPr/>
        </p:nvSpPr>
        <p:spPr>
          <a:xfrm>
            <a:off x="548640" y="3474720"/>
            <a:ext cx="11064240" cy="2377440"/>
          </a:xfrm>
          <a:prstGeom prst="roundRect">
            <a:avLst>
              <a:gd name="adj" fmla="val 4615"/>
            </a:avLst>
          </a:prstGeom>
          <a:solidFill>
            <a:schemeClr val="bg2"/>
          </a:solidFill>
          <a:ln w="12700">
            <a:solidFill>
              <a:schemeClr val="bg2"/>
            </a:solidFill>
            <a:prstDash val="solid"/>
          </a:ln>
        </p:spPr>
      </p:sp>
      <p:sp>
        <p:nvSpPr>
          <p:cNvPr id="10" name="text-118"/>
          <p:cNvSpPr txBox="1"/>
          <p:nvPr/>
        </p:nvSpPr>
        <p:spPr>
          <a:xfrm>
            <a:off x="822960" y="3657600"/>
            <a:ext cx="3657600" cy="411480"/>
          </a:xfrm>
          <a:prstGeom prst="rect">
            <a:avLst/>
          </a:prstGeom>
          <a:noFill/>
          <a:ln/>
        </p:spPr>
        <p:txBody>
          <a:bodyPr wrap="square" lIns="0" tIns="0" rIns="0" bIns="0" rtlCol="0" anchor="t"/>
          <a:lstStyle/>
          <a:p>
            <a:pPr indent="0" marL="0">
              <a:buNone/>
            </a:pPr>
            <a:r>
              <a:rPr lang="en-US" sz="1800" b="1" dirty="0">
                <a:solidFill>
                  <a:schemeClr val="tx1"/>
                </a:solidFill>
              </a:rPr>
              <a:t>Rollout path</a:t>
            </a:r>
            <a:endParaRPr lang="en-US" sz="1800" dirty="0"/>
          </a:p>
        </p:txBody>
      </p:sp>
      <p:sp>
        <p:nvSpPr>
          <p:cNvPr id="11" name="list-119"/>
          <p:cNvSpPr txBox="1"/>
          <p:nvPr/>
        </p:nvSpPr>
        <p:spPr>
          <a:xfrm>
            <a:off x="822960" y="4160520"/>
            <a:ext cx="1051560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Pilot in one paediatric diabetes clinic with families already on a state T1D programme</a:t>
            </a:r>
            <a:endParaRPr lang="en-US" sz="1600" dirty="0"/>
          </a:p>
          <a:p>
            <a:pPr marL="342900" indent="-342900">
              <a:spcAft>
                <a:spcPts val="600"/>
              </a:spcAft>
              <a:buSzPct val="100000"/>
              <a:buChar char="•"/>
            </a:pPr>
            <a:r>
              <a:rPr lang="en-US" sz="1600" dirty="0">
                <a:solidFill>
                  <a:schemeClr val="tx1"/>
                </a:solidFill>
              </a:rPr>
              <a:t>Recalibrate and validate on Indian children's data; measure night lows, parent sleep and false alarms</a:t>
            </a:r>
            <a:endParaRPr lang="en-US" sz="1600" dirty="0"/>
          </a:p>
          <a:p>
            <a:pPr marL="342900" indent="-342900">
              <a:spcAft>
                <a:spcPts val="600"/>
              </a:spcAft>
              <a:buSzPct val="100000"/>
              <a:buChar char="•"/>
            </a:pPr>
            <a:r>
              <a:rPr lang="en-US" sz="1600" dirty="0">
                <a:solidFill>
                  <a:schemeClr val="tx1"/>
                </a:solidFill>
              </a:rPr>
              <a:t>Extend the same twin to adults with T2D on insulin or sulfonylureas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Limitations we know about</a:t>
            </a:r>
            <a:endParaRPr lang="en-US" sz="3200" dirty="0"/>
          </a:p>
        </p:txBody>
      </p:sp>
      <p:sp>
        <p:nvSpPr>
          <p:cNvPr id="3" name="card-120"/>
          <p:cNvSpPr/>
          <p:nvPr/>
        </p:nvSpPr>
        <p:spPr>
          <a:xfrm>
            <a:off x="548640" y="1417320"/>
            <a:ext cx="5440680" cy="2148840"/>
          </a:xfrm>
          <a:prstGeom prst="roundRect">
            <a:avLst>
              <a:gd name="adj" fmla="val 5106"/>
            </a:avLst>
          </a:prstGeom>
          <a:solidFill>
            <a:schemeClr val="bg2"/>
          </a:solidFill>
          <a:ln w="12700">
            <a:solidFill>
              <a:schemeClr val="bg2"/>
            </a:solidFill>
            <a:prstDash val="solid"/>
          </a:ln>
        </p:spPr>
      </p:sp>
      <p:sp>
        <p:nvSpPr>
          <p:cNvPr id="4" name="text-121"/>
          <p:cNvSpPr txBox="1"/>
          <p:nvPr/>
        </p:nvSpPr>
        <p:spPr>
          <a:xfrm>
            <a:off x="822960" y="1645920"/>
            <a:ext cx="4846320" cy="411480"/>
          </a:xfrm>
          <a:prstGeom prst="rect">
            <a:avLst/>
          </a:prstGeom>
          <a:noFill/>
          <a:ln/>
        </p:spPr>
        <p:txBody>
          <a:bodyPr wrap="square" lIns="0" tIns="0" rIns="0" bIns="0" rtlCol="0" anchor="t"/>
          <a:lstStyle/>
          <a:p>
            <a:pPr indent="0" marL="0">
              <a:buNone/>
            </a:pPr>
            <a:r>
              <a:rPr lang="en-US" sz="1900" b="1" dirty="0">
                <a:solidFill>
                  <a:schemeClr val="tx1"/>
                </a:solidFill>
              </a:rPr>
              <a:t>Training population</a:t>
            </a:r>
            <a:endParaRPr lang="en-US" sz="1900" dirty="0"/>
          </a:p>
        </p:txBody>
      </p:sp>
      <p:sp>
        <p:nvSpPr>
          <p:cNvPr id="5" name="text-122"/>
          <p:cNvSpPr txBox="1"/>
          <p:nvPr/>
        </p:nvSpPr>
        <p:spPr>
          <a:xfrm>
            <a:off x="822960" y="2194560"/>
            <a:ext cx="4846320" cy="1188720"/>
          </a:xfrm>
          <a:prstGeom prst="rect">
            <a:avLst/>
          </a:prstGeom>
          <a:noFill/>
          <a:ln/>
        </p:spPr>
        <p:txBody>
          <a:bodyPr wrap="square" lIns="0" tIns="0" rIns="0" bIns="0" rtlCol="0" anchor="t"/>
          <a:lstStyle/>
          <a:p>
            <a:pPr indent="0" marL="0">
              <a:buNone/>
            </a:pPr>
            <a:r>
              <a:rPr lang="en-US" sz="1500" dirty="0">
                <a:solidFill>
                  <a:schemeClr val="tx2"/>
                </a:solidFill>
              </a:rPr>
              <a:t>Models trained on adults in Spain and tested on adults in the UK, not Indian children. An Indian pilot is the next step.</a:t>
            </a:r>
            <a:endParaRPr lang="en-US" sz="1500" dirty="0"/>
          </a:p>
        </p:txBody>
      </p:sp>
      <p:sp>
        <p:nvSpPr>
          <p:cNvPr id="6" name="card-123"/>
          <p:cNvSpPr/>
          <p:nvPr/>
        </p:nvSpPr>
        <p:spPr>
          <a:xfrm>
            <a:off x="6172200" y="1417320"/>
            <a:ext cx="5440680" cy="2148840"/>
          </a:xfrm>
          <a:prstGeom prst="roundRect">
            <a:avLst>
              <a:gd name="adj" fmla="val 5106"/>
            </a:avLst>
          </a:prstGeom>
          <a:solidFill>
            <a:schemeClr val="bg2"/>
          </a:solidFill>
          <a:ln w="12700">
            <a:solidFill>
              <a:schemeClr val="bg2"/>
            </a:solidFill>
            <a:prstDash val="solid"/>
          </a:ln>
        </p:spPr>
      </p:sp>
      <p:sp>
        <p:nvSpPr>
          <p:cNvPr id="7" name="text-124"/>
          <p:cNvSpPr txBox="1"/>
          <p:nvPr/>
        </p:nvSpPr>
        <p:spPr>
          <a:xfrm>
            <a:off x="6446520" y="1645920"/>
            <a:ext cx="4846320" cy="411480"/>
          </a:xfrm>
          <a:prstGeom prst="rect">
            <a:avLst/>
          </a:prstGeom>
          <a:noFill/>
          <a:ln/>
        </p:spPr>
        <p:txBody>
          <a:bodyPr wrap="square" lIns="0" tIns="0" rIns="0" bIns="0" rtlCol="0" anchor="t"/>
          <a:lstStyle/>
          <a:p>
            <a:pPr indent="0" marL="0">
              <a:buNone/>
            </a:pPr>
            <a:r>
              <a:rPr lang="en-US" sz="1900" b="1" dirty="0">
                <a:solidFill>
                  <a:schemeClr val="tx1"/>
                </a:solidFill>
              </a:rPr>
              <a:t>Synthetic demo</a:t>
            </a:r>
            <a:endParaRPr lang="en-US" sz="1900" dirty="0"/>
          </a:p>
        </p:txBody>
      </p:sp>
      <p:sp>
        <p:nvSpPr>
          <p:cNvPr id="8" name="text-125"/>
          <p:cNvSpPr txBox="1"/>
          <p:nvPr/>
        </p:nvSpPr>
        <p:spPr>
          <a:xfrm>
            <a:off x="6446520" y="2194560"/>
            <a:ext cx="4846320" cy="1188720"/>
          </a:xfrm>
          <a:prstGeom prst="rect">
            <a:avLst/>
          </a:prstGeom>
          <a:noFill/>
          <a:ln/>
        </p:spPr>
        <p:txBody>
          <a:bodyPr wrap="square" lIns="0" tIns="0" rIns="0" bIns="0" rtlCol="0" anchor="t"/>
          <a:lstStyle/>
          <a:p>
            <a:pPr indent="0" marL="0">
              <a:buNone/>
            </a:pPr>
            <a:r>
              <a:rPr lang="en-US" sz="1500" dirty="0">
                <a:solidFill>
                  <a:schemeClr val="tx2"/>
                </a:solidFill>
              </a:rPr>
              <a:t>The 12 Indian children in the dashboard are synthetic. They show the method; they are never used for accuracy numbers.</a:t>
            </a:r>
            <a:endParaRPr lang="en-US" sz="1500" dirty="0"/>
          </a:p>
        </p:txBody>
      </p:sp>
      <p:sp>
        <p:nvSpPr>
          <p:cNvPr id="9" name="card-126"/>
          <p:cNvSpPr/>
          <p:nvPr/>
        </p:nvSpPr>
        <p:spPr>
          <a:xfrm>
            <a:off x="548640" y="3794760"/>
            <a:ext cx="5440680" cy="2148840"/>
          </a:xfrm>
          <a:prstGeom prst="roundRect">
            <a:avLst>
              <a:gd name="adj" fmla="val 5106"/>
            </a:avLst>
          </a:prstGeom>
          <a:solidFill>
            <a:schemeClr val="bg2"/>
          </a:solidFill>
          <a:ln w="12700">
            <a:solidFill>
              <a:schemeClr val="bg2"/>
            </a:solidFill>
            <a:prstDash val="solid"/>
          </a:ln>
        </p:spPr>
      </p:sp>
      <p:sp>
        <p:nvSpPr>
          <p:cNvPr id="10" name="text-127"/>
          <p:cNvSpPr txBox="1"/>
          <p:nvPr/>
        </p:nvSpPr>
        <p:spPr>
          <a:xfrm>
            <a:off x="822960" y="4023360"/>
            <a:ext cx="4846320" cy="411480"/>
          </a:xfrm>
          <a:prstGeom prst="rect">
            <a:avLst/>
          </a:prstGeom>
          <a:noFill/>
          <a:ln/>
        </p:spPr>
        <p:txBody>
          <a:bodyPr wrap="square" lIns="0" tIns="0" rIns="0" bIns="0" rtlCol="0" anchor="t"/>
          <a:lstStyle/>
          <a:p>
            <a:pPr indent="0" marL="0">
              <a:buNone/>
            </a:pPr>
            <a:r>
              <a:rPr lang="en-US" sz="1900" b="1" dirty="0">
                <a:solidFill>
                  <a:schemeClr val="tx1"/>
                </a:solidFill>
              </a:rPr>
              <a:t>Bedtime prediction</a:t>
            </a:r>
            <a:endParaRPr lang="en-US" sz="1900" dirty="0"/>
          </a:p>
        </p:txBody>
      </p:sp>
      <p:sp>
        <p:nvSpPr>
          <p:cNvPr id="11" name="text-128"/>
          <p:cNvSpPr txBox="1"/>
          <p:nvPr/>
        </p:nvSpPr>
        <p:spPr>
          <a:xfrm>
            <a:off x="822960" y="4572000"/>
            <a:ext cx="4846320" cy="1188720"/>
          </a:xfrm>
          <a:prstGeom prst="rect">
            <a:avLst/>
          </a:prstGeom>
          <a:noFill/>
          <a:ln/>
        </p:spPr>
        <p:txBody>
          <a:bodyPr wrap="square" lIns="0" tIns="0" rIns="0" bIns="0" rtlCol="0" anchor="t"/>
          <a:lstStyle/>
          <a:p>
            <a:pPr indent="0" marL="0">
              <a:buNone/>
            </a:pPr>
            <a:r>
              <a:rPr lang="en-US" sz="1500" dirty="0">
                <a:solidFill>
                  <a:schemeClr val="tx2"/>
                </a:solidFill>
              </a:rPr>
              <a:t>Bedtime-only risk is weak on real data. We use it to compare plans, not to promise safety.</a:t>
            </a:r>
            <a:endParaRPr lang="en-US" sz="1500" dirty="0"/>
          </a:p>
        </p:txBody>
      </p:sp>
      <p:sp>
        <p:nvSpPr>
          <p:cNvPr id="12" name="card-129"/>
          <p:cNvSpPr/>
          <p:nvPr/>
        </p:nvSpPr>
        <p:spPr>
          <a:xfrm>
            <a:off x="6172200" y="3794760"/>
            <a:ext cx="5440680" cy="2148840"/>
          </a:xfrm>
          <a:prstGeom prst="roundRect">
            <a:avLst>
              <a:gd name="adj" fmla="val 5106"/>
            </a:avLst>
          </a:prstGeom>
          <a:solidFill>
            <a:schemeClr val="bg2"/>
          </a:solidFill>
          <a:ln w="12700">
            <a:solidFill>
              <a:schemeClr val="bg2"/>
            </a:solidFill>
            <a:prstDash val="solid"/>
          </a:ln>
        </p:spPr>
      </p:sp>
      <p:sp>
        <p:nvSpPr>
          <p:cNvPr id="13" name="text-130"/>
          <p:cNvSpPr txBox="1"/>
          <p:nvPr/>
        </p:nvSpPr>
        <p:spPr>
          <a:xfrm>
            <a:off x="6446520" y="4023360"/>
            <a:ext cx="4846320" cy="411480"/>
          </a:xfrm>
          <a:prstGeom prst="rect">
            <a:avLst/>
          </a:prstGeom>
          <a:noFill/>
          <a:ln/>
        </p:spPr>
        <p:txBody>
          <a:bodyPr wrap="square" lIns="0" tIns="0" rIns="0" bIns="0" rtlCol="0" anchor="t"/>
          <a:lstStyle/>
          <a:p>
            <a:pPr indent="0" marL="0">
              <a:buNone/>
            </a:pPr>
            <a:r>
              <a:rPr lang="en-US" sz="1900" b="1" dirty="0">
                <a:solidFill>
                  <a:schemeClr val="tx1"/>
                </a:solidFill>
              </a:rPr>
              <a:t>Translations and regulation</a:t>
            </a:r>
            <a:endParaRPr lang="en-US" sz="1900" dirty="0"/>
          </a:p>
        </p:txBody>
      </p:sp>
      <p:sp>
        <p:nvSpPr>
          <p:cNvPr id="14" name="text-131"/>
          <p:cNvSpPr txBox="1"/>
          <p:nvPr/>
        </p:nvSpPr>
        <p:spPr>
          <a:xfrm>
            <a:off x="6446520" y="4572000"/>
            <a:ext cx="4846320" cy="1188720"/>
          </a:xfrm>
          <a:prstGeom prst="rect">
            <a:avLst/>
          </a:prstGeom>
          <a:noFill/>
          <a:ln/>
        </p:spPr>
        <p:txBody>
          <a:bodyPr wrap="square" lIns="0" tIns="0" rIns="0" bIns="0" rtlCol="0" anchor="t"/>
          <a:lstStyle/>
          <a:p>
            <a:pPr indent="0" marL="0">
              <a:buNone/>
            </a:pPr>
            <a:r>
              <a:rPr lang="en-US" sz="1500" dirty="0">
                <a:solidFill>
                  <a:schemeClr val="tx2"/>
                </a:solidFill>
              </a:rPr>
              <a:t>Translations are drafts for native-speaker review. Not a medical device yet.</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7863840" cy="1737360"/>
          </a:xfrm>
          <a:prstGeom prst="rect">
            <a:avLst/>
          </a:prstGeom>
          <a:noFill/>
          <a:ln/>
        </p:spPr>
        <p:txBody>
          <a:bodyPr wrap="square" rtlCol="0" anchor="t"/>
          <a:lstStyle/>
          <a:p>
            <a:pPr algn="l" indent="0" marL="0">
              <a:buNone/>
            </a:pPr>
            <a:r>
              <a:rPr lang="en-US" sz="4600" b="1" dirty="0">
                <a:solidFill>
                  <a:schemeClr val="bg1"/>
                </a:solidFill>
                <a:latin typeface="Cambria" pitchFamily="34" charset="0"/>
                <a:ea typeface="Cambria" pitchFamily="34" charset="-122"/>
                <a:cs typeface="Cambria" pitchFamily="34" charset="-120"/>
              </a:rPr>
              <a:t>Let the twin face the night first</a:t>
            </a:r>
            <a:endParaRPr lang="en-US" sz="4600" dirty="0"/>
          </a:p>
        </p:txBody>
      </p:sp>
      <p:pic>
        <p:nvPicPr>
          <p:cNvPr id="3" name="logo-close" descr="NightTwin logo">    </p:cNvPr>
          <p:cNvPicPr>
            <a:picLocks noChangeAspect="1"/>
          </p:cNvPicPr>
          <p:nvPr/>
        </p:nvPicPr>
        <p:blipFill>
          <a:blip r:embed="rId1"/>
          <a:stretch>
            <a:fillRect/>
          </a:stretch>
        </p:blipFill>
        <p:spPr>
          <a:xfrm>
            <a:off x="640080" y="822960"/>
            <a:ext cx="777240" cy="777240"/>
          </a:xfrm>
          <a:prstGeom prst="rect">
            <a:avLst/>
          </a:prstGeom>
        </p:spPr>
      </p:pic>
      <p:sp>
        <p:nvSpPr>
          <p:cNvPr id="4" name="Text 0"/>
          <p:cNvSpPr/>
          <p:nvPr>
            <p:ph idx="101" type="body" hasCustomPrompt="1"/>
          </p:nvPr>
        </p:nvSpPr>
        <p:spPr>
          <a:xfrm>
            <a:off x="640080" y="3886200"/>
            <a:ext cx="7680960" cy="1097280"/>
          </a:xfrm>
          <a:prstGeom prst="rect">
            <a:avLst/>
          </a:prstGeom>
          <a:noFill/>
          <a:ln/>
        </p:spPr>
        <p:txBody>
          <a:bodyPr wrap="square" rtlCol="0" anchor="t"/>
          <a:lstStyle/>
          <a:p>
            <a:pPr algn="l" indent="0" marL="0">
              <a:buNone/>
            </a:pPr>
            <a:r>
              <a:rPr lang="en-US" sz="1800" dirty="0">
                <a:solidFill>
                  <a:schemeClr val="accent5"/>
                </a:solidFill>
              </a:rPr>
              <a:t>So a mother can sleep, and a child wakes up safe</a:t>
            </a:r>
            <a:endParaRPr lang="en-US" sz="1800" dirty="0"/>
          </a:p>
        </p:txBody>
      </p:sp>
      <p:sp>
        <p:nvSpPr>
          <p:cNvPr id="5" name="text-132"/>
          <p:cNvSpPr txBox="1"/>
          <p:nvPr/>
        </p:nvSpPr>
        <p:spPr>
          <a:xfrm>
            <a:off x="640080" y="4846320"/>
            <a:ext cx="7772400" cy="685800"/>
          </a:xfrm>
          <a:prstGeom prst="rect">
            <a:avLst/>
          </a:prstGeom>
          <a:noFill/>
          <a:ln/>
        </p:spPr>
        <p:txBody>
          <a:bodyPr wrap="square" lIns="0" tIns="0" rIns="0" bIns="0" rtlCol="0" anchor="t"/>
          <a:lstStyle/>
          <a:p>
            <a:pPr indent="0" marL="0">
              <a:buNone/>
            </a:pPr>
            <a:r>
              <a:rPr lang="en-US" sz="1600" dirty="0">
                <a:solidFill>
                  <a:schemeClr val="bg1"/>
                </a:solidFill>
              </a:rPr>
              <a:t>Team TwinPulse · Newton School of Technology, Rishihood University</a:t>
            </a:r>
            <a:endParaRPr lang="en-US" sz="1600" dirty="0"/>
          </a:p>
          <a:p>
            <a:pPr indent="0" marL="0">
              <a:buNone/>
            </a:pPr>
            <a:r>
              <a:rPr lang="en-US" sz="1600" dirty="0">
                <a:solidFill>
                  <a:schemeClr val="bg1"/>
                </a:solidFill>
              </a:rPr>
              <a:t>Manan Gilhotra (team leader) · Manas Saxena</a:t>
            </a:r>
            <a:endParaRPr lang="en-US" sz="1600" dirty="0"/>
          </a:p>
        </p:txBody>
      </p:sp>
      <p:sp>
        <p:nvSpPr>
          <p:cNvPr id="6" name="text-133"/>
          <p:cNvSpPr txBox="1"/>
          <p:nvPr/>
        </p:nvSpPr>
        <p:spPr>
          <a:xfrm>
            <a:off x="640080" y="5623560"/>
            <a:ext cx="7772400" cy="365760"/>
          </a:xfrm>
          <a:prstGeom prst="rect">
            <a:avLst/>
          </a:prstGeom>
          <a:noFill/>
          <a:ln/>
        </p:spPr>
        <p:txBody>
          <a:bodyPr wrap="square" lIns="0" tIns="0" rIns="0" bIns="0" rtlCol="0" anchor="t"/>
          <a:lstStyle/>
          <a:p>
            <a:pPr indent="0" marL="0">
              <a:buNone/>
            </a:pPr>
            <a:r>
              <a:rPr lang="en-US" sz="1400" dirty="0">
                <a:solidFill>
                  <a:schemeClr val="accent5"/>
                </a:solidFill>
              </a:rPr>
              <a:t>Live demo: manangilhotra.github.io/TwinPulse_NewtonSchoolOfTechnology_RishihoodUniversity</a:t>
            </a:r>
            <a:endParaRPr lang="en-US" sz="1400" dirty="0"/>
          </a:p>
        </p:txBody>
      </p:sp>
      <p:sp>
        <p:nvSpPr>
          <p:cNvPr id="7" name="moon-close"/>
          <p:cNvSpPr/>
          <p:nvPr/>
        </p:nvSpPr>
        <p:spPr>
          <a:xfrm>
            <a:off x="9052560" y="1554480"/>
            <a:ext cx="2377440" cy="2377440"/>
          </a:xfrm>
          <a:prstGeom prst="ellipse">
            <a:avLst/>
          </a:prstGeom>
          <a:solidFill>
            <a:schemeClr val="accent2"/>
          </a:solidFill>
          <a:ln w="12700">
            <a:solidFill>
              <a:schemeClr val="accent2"/>
            </a:solidFill>
            <a:prstDash val="solid"/>
          </a:ln>
        </p:spPr>
      </p:sp>
      <p:sp>
        <p:nvSpPr>
          <p:cNvPr id="8" name="moon-close-shadow"/>
          <p:cNvSpPr/>
          <p:nvPr/>
        </p:nvSpPr>
        <p:spPr>
          <a:xfrm>
            <a:off x="9692640" y="1325880"/>
            <a:ext cx="2194560" cy="2194560"/>
          </a:xfrm>
          <a:prstGeom prst="ellipse">
            <a:avLst/>
          </a:prstGeom>
          <a:solidFill>
            <a:schemeClr val="tx1"/>
          </a:solidFill>
          <a:ln w="12700">
            <a:solidFill>
              <a:schemeClr val="tx1"/>
            </a:solidFill>
            <a:prstDash val="solid"/>
          </a:ln>
        </p:spPr>
      </p:sp>
    </p:spTree>
  </p:cSld>
  <p:clrMapOvr>
    <a:masterClrMapping/>
  </p:clrMapOvr>
</p:sld>
</file>

<file path=ppt/theme/theme1.xml><?xml version="1.0" encoding="utf-8"?>
<a:theme xmlns:a="http://schemas.openxmlformats.org/drawingml/2006/main" name="TwinPulse Night">
  <a:themeElements>
    <a:clrScheme name="TwinPulse Night">
      <a:dk1>
        <a:srgbClr val="0F172A"/>
      </a:dk1>
      <a:lt1>
        <a:srgbClr val="FFFFFF"/>
      </a:lt1>
      <a:dk2>
        <a:srgbClr val="334155"/>
      </a:dk2>
      <a:lt2>
        <a:srgbClr val="F1F5F9"/>
      </a:lt2>
      <a:accent1>
        <a:srgbClr val="4F46E5"/>
      </a:accent1>
      <a:accent2>
        <a:srgbClr val="F59E0B"/>
      </a:accent2>
      <a:accent3>
        <a:srgbClr val="059669"/>
      </a:accent3>
      <a:accent4>
        <a:srgbClr val="DC2626"/>
      </a:accent4>
      <a:accent5>
        <a:srgbClr val="A5B4FC"/>
      </a:accent5>
      <a:accent6>
        <a:srgbClr val="0891B2"/>
      </a:accent6>
      <a:hlink>
        <a:srgbClr val="4F46E5"/>
      </a:hlink>
      <a:folHlink>
        <a:srgbClr val="6D28D9"/>
      </a:folHlink>
    </a:clrScheme>
    <a:fontScheme name="TwinPulse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NightTwin by Team TwinPulse: the twin lives the night first</dc:title>
  <dc:subject>PptxGenJS Presentation</dc:subject>
  <dc:creator>Team TwinPulse</dc:creator>
  <cp:lastModifiedBy>Team TwinPulse</cp:lastModifiedBy>
  <cp:revision>1</cp:revision>
  <dcterms:created xsi:type="dcterms:W3CDTF">2026-10-17T11:36:33Z</dcterms:created>
  <dcterms:modified xsi:type="dcterms:W3CDTF">2026-10-17T11:36:33Z</dcterms:modified>
</cp:coreProperties>
</file>